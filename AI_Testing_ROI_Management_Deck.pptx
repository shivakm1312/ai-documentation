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22440"/>
                </a:solidFill>
                <a:latin typeface="Aptos"/>
              </a:rPr>
              <a:t>AI-Driven Testing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68778B"/>
                </a:solidFill>
                <a:latin typeface="Aptos"/>
              </a:rPr>
              <a:t>Management view | Pilot → measurable savings → scaled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009CA6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34440"/>
            <a:ext cx="354787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234440"/>
            <a:ext cx="91440" cy="93268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22440"/>
                </a:solidFill>
                <a:latin typeface="Aptos"/>
              </a:rPr>
              <a:t>UP TO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3108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8778B"/>
                </a:solidFill>
                <a:latin typeface="Aptos"/>
              </a:rPr>
              <a:t>Target effort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234440"/>
            <a:ext cx="354787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234440"/>
            <a:ext cx="91440" cy="932688"/>
          </a:xfrm>
          <a:prstGeom prst="rect">
            <a:avLst/>
          </a:prstGeom>
          <a:solidFill>
            <a:srgbClr val="26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344168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22440"/>
                </a:solidFill>
                <a:latin typeface="Aptos"/>
              </a:rPr>
              <a:t>4 WORKSTREAMS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719072"/>
            <a:ext cx="3108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8778B"/>
                </a:solidFill>
                <a:latin typeface="Aptos"/>
              </a:rPr>
              <a:t>UI • API • Performance • Settlement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54787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91440" cy="932688"/>
          </a:xfrm>
          <a:prstGeom prst="rect">
            <a:avLst/>
          </a:prstGeom>
          <a:solidFill>
            <a:srgbClr val="1B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44168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22440"/>
                </a:solidFill>
                <a:latin typeface="Aptos"/>
              </a:rPr>
              <a:t>3 RELEASE MILESTONES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719072"/>
            <a:ext cx="3108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8778B"/>
                </a:solidFill>
                <a:latin typeface="Aptos"/>
              </a:rPr>
              <a:t>Pilot → V1.0 → V2.0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468880"/>
            <a:ext cx="5303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AI ENABLEMENT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2834640"/>
            <a:ext cx="25420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944" y="3017520"/>
            <a:ext cx="493776" cy="493776"/>
          </a:xfrm>
          <a:prstGeom prst="roundRect">
            <a:avLst/>
          </a:prstGeom>
          <a:solidFill>
            <a:srgbClr val="26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017520"/>
            <a:ext cx="493776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999232"/>
            <a:ext cx="1627631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Script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328416"/>
            <a:ext cx="16276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30" b="0">
                <a:solidFill>
                  <a:srgbClr val="68778B"/>
                </a:solidFill>
                <a:latin typeface="Aptos"/>
              </a:rPr>
              <a:t>Prompt / story → framework-ready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73552" y="2834640"/>
            <a:ext cx="25420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38144" y="3017520"/>
            <a:ext cx="493776" cy="493776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8144" y="3017520"/>
            <a:ext cx="493776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2999232"/>
            <a:ext cx="1627631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Test data &amp;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3328416"/>
            <a:ext cx="16276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30" b="0">
                <a:solidFill>
                  <a:srgbClr val="68778B"/>
                </a:solidFill>
                <a:latin typeface="Aptos"/>
              </a:rPr>
              <a:t>Generate data; capture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3950208"/>
            <a:ext cx="25420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4133088"/>
            <a:ext cx="493776" cy="493776"/>
          </a:xfrm>
          <a:prstGeom prst="roundRect">
            <a:avLst/>
          </a:prstGeom>
          <a:solidFill>
            <a:srgbClr val="1B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4133088"/>
            <a:ext cx="493776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114800"/>
            <a:ext cx="1627631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Defect &amp;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443984"/>
            <a:ext cx="16276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30" b="0">
                <a:solidFill>
                  <a:srgbClr val="68778B"/>
                </a:solidFill>
                <a:latin typeface="Aptos"/>
              </a:rPr>
              <a:t>Validate defects; optimize coverage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73552" y="3950208"/>
            <a:ext cx="25420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38144" y="4133088"/>
            <a:ext cx="493776" cy="493776"/>
          </a:xfrm>
          <a:prstGeom prst="roundRect">
            <a:avLst/>
          </a:prstGeom>
          <a:solidFill>
            <a:srgbClr val="DE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38144" y="4133088"/>
            <a:ext cx="493776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4114800"/>
            <a:ext cx="1627631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Reporting &amp;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1648" y="4443984"/>
            <a:ext cx="16276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30" b="0">
                <a:solidFill>
                  <a:srgbClr val="68778B"/>
                </a:solidFill>
                <a:latin typeface="Aptos"/>
              </a:rPr>
              <a:t>Faster analysis; audit-ready reports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487168"/>
            <a:ext cx="537667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670048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DELIVERY ROADMAP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3182112"/>
            <a:ext cx="868680" cy="43891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182112"/>
            <a:ext cx="8686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163824"/>
            <a:ext cx="148132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22440"/>
                </a:solidFill>
                <a:latin typeface="Aptos"/>
              </a:rPr>
              <a:t>15 Nov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163824"/>
            <a:ext cx="21488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8778B"/>
                </a:solidFill>
                <a:latin typeface="Aptos"/>
              </a:rPr>
              <a:t>Core use cases &amp; baseline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58584" y="3630168"/>
            <a:ext cx="22860" cy="26517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37960" y="3931920"/>
            <a:ext cx="868680" cy="438912"/>
          </a:xfrm>
          <a:prstGeom prst="roundRect">
            <a:avLst/>
          </a:prstGeom>
          <a:solidFill>
            <a:srgbClr val="26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3931920"/>
            <a:ext cx="8686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913632"/>
            <a:ext cx="148132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22440"/>
                </a:solidFill>
                <a:latin typeface="Aptos"/>
              </a:rPr>
              <a:t>20 Jan 2027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3913632"/>
            <a:ext cx="21488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8778B"/>
                </a:solidFill>
                <a:latin typeface="Aptos"/>
              </a:rPr>
              <a:t>Frameworks, data &amp; reports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58584" y="4379976"/>
            <a:ext cx="22860" cy="26517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37960" y="4681728"/>
            <a:ext cx="868680" cy="438912"/>
          </a:xfrm>
          <a:prstGeom prst="roundRect">
            <a:avLst/>
          </a:prstGeom>
          <a:solidFill>
            <a:srgbClr val="1B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4681728"/>
            <a:ext cx="8686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V2.0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4663440"/>
            <a:ext cx="148132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22440"/>
                </a:solidFill>
                <a:latin typeface="Aptos"/>
              </a:rPr>
              <a:t>20 Feb 2027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663440"/>
            <a:ext cx="21488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8778B"/>
                </a:solidFill>
                <a:latin typeface="Aptos"/>
              </a:rPr>
              <a:t>CI/CD, self-healing &amp; scale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5285232"/>
            <a:ext cx="5257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BC4E4E"/>
                </a:solidFill>
                <a:latin typeface="Aptos"/>
              </a:rPr>
              <a:t>ROI is a target—not a guaranteed outcome. Validate against a measured baseline.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68778B"/>
                </a:solidFill>
                <a:latin typeface="Aptos"/>
              </a:rPr>
              <a:t>Nexus One | AI-driven Quality Engineering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09960" y="6565392"/>
            <a:ext cx="548640" cy="54864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22440"/>
                </a:solidFill>
                <a:latin typeface="Aptos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68778B"/>
                </a:solidFill>
                <a:latin typeface="Aptos"/>
              </a:rPr>
              <a:t>Four workstreams | concise scope by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009CA6"/>
                </a:solidFill>
                <a:latin typeface="Aptos"/>
              </a:rPr>
              <a:t>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32588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2121408"/>
                <a:gridCol w="1975104"/>
                <a:gridCol w="2194560"/>
                <a:gridCol w="2331720"/>
                <a:gridCol w="1508760"/>
              </a:tblGrid>
              <a:tr h="1131570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MILESTONE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UI AUTOMATION · PLAYWRIGHT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API AUTOMATION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PERFORMANCE · JMETER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SETTLEMENT VALIDATION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PILOT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Prompt → valid Playwright scripts; navigation, forms, assertions &amp; screenshots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CRUD; positive/negative, boundary, auth, response &amp; file-upload checks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AI-generated scripts; load, correlation, sequencing, encryption &amp; SLA checks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Voucher matching; amount/date/format, blank/hidden files &amp; missing/extra records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15 Nov 2026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VERSION 1.0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POM, file/DB checks, data-driven tests, CAPTCHA/OTP; story/Jira → scripts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Reusable API framework; DB checks; test-file and story/Jira-driven scripts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Stress/spike/endurance; CSV data, advanced assertions, &gt;7 API monitoring; HTML report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Multi-file reconciliation; mismatch details &amp; Excel audit report with cell references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20 Jan 2027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VERSION 2.0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CI/CD, self-healing, mobile flows, advanced controls, email reports &amp; standards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CI/CD pipeline integration &amp; coding standards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Browser journeys, scale tests, trend/bottleneck analysis &amp; reporting dashboard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Expand based on pilot findings; automate recurring reconciliation controls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73446"/>
                          </a:solidFill>
                          <a:latin typeface="Aptos"/>
                        </a:rPr>
                        <a:t>20 Feb 2027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998464"/>
            <a:ext cx="3520440" cy="3657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6007608"/>
            <a:ext cx="731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09CA6"/>
                </a:solidFill>
                <a:latin typeface="Aptos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6007608"/>
            <a:ext cx="254203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273446"/>
                </a:solidFill>
                <a:latin typeface="Aptos"/>
              </a:rPr>
              <a:t>Prove value on selected use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998464"/>
            <a:ext cx="3520440" cy="3657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6007608"/>
            <a:ext cx="731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663BE"/>
                </a:solidFill>
                <a:latin typeface="Aptos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6007608"/>
            <a:ext cx="254203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273446"/>
                </a:solidFill>
                <a:latin typeface="Aptos"/>
              </a:rPr>
              <a:t>Standardize reusable frameworks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1" y="5998464"/>
            <a:ext cx="3520440" cy="3657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6007608"/>
            <a:ext cx="731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B9465"/>
                </a:solidFill>
                <a:latin typeface="Aptos"/>
              </a:rPr>
              <a:t>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6007608"/>
            <a:ext cx="254203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273446"/>
                </a:solidFill>
                <a:latin typeface="Aptos"/>
              </a:rPr>
              <a:t>Scale through CI/CD &amp; smarter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68778B"/>
                </a:solidFill>
                <a:latin typeface="Aptos"/>
              </a:rPr>
              <a:t>Nexus One | AI-driven Quality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09960" y="6565392"/>
            <a:ext cx="548640" cy="54864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22440"/>
                </a:solidFill>
                <a:latin typeface="Aptos"/>
              </a:rPr>
              <a:t>Effort Savings &amp; ROI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68778B"/>
                </a:solidFill>
                <a:latin typeface="Aptos"/>
              </a:rPr>
              <a:t>Observed project baselines + release and pipeline measurement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009CA6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109728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122440"/>
                </a:solidFill>
                <a:latin typeface="Aptos"/>
              </a:rPr>
              <a:t>01  ONGOING IMPLEMENTATION WORK  |  PRODUCT / CLIENT BASELINE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44752"/>
          <a:ext cx="639165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481328"/>
                <a:gridCol w="1024128"/>
                <a:gridCol w="960120"/>
                <a:gridCol w="1005840"/>
                <a:gridCol w="804672"/>
              </a:tblGrid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CLIENT / PROJECT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BEFORE (D)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AFTER (D)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SAVED (D)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ROI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Blaze PG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DU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74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53%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PG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Ecentric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58%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PG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Pinelabs-WIO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Blaze CMS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SBI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Blaze CMS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Kotak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Blaze CMS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CBI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HDFC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Kotak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23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35%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IPPB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NI_Settlement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NI_Recon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56%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ADCB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23315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QNB Alhali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73446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43800" y="1161288"/>
            <a:ext cx="41605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22440"/>
                </a:solidFill>
                <a:latin typeface="Aptos"/>
              </a:rPr>
              <a:t>02  REGRESSION EFFORT PER RELEASE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43800" y="1444752"/>
          <a:ext cx="416052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777240"/>
                <a:gridCol w="777240"/>
                <a:gridCol w="82296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ACTIVITY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BEFORE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AFTER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SAVING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Test execution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10.7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4.3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40.2%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Defect re-testing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17.8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7.2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40.4%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Regression testing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11.9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4.8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73446"/>
                          </a:solidFill>
                          <a:latin typeface="Aptos"/>
                        </a:rPr>
                        <a:t>40.3%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43800" y="2971800"/>
            <a:ext cx="41605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22440"/>
                </a:solidFill>
                <a:latin typeface="Aptos"/>
              </a:rPr>
              <a:t>03  PIPELINE RELEASE ROI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43800" y="3255264"/>
          <a:ext cx="41605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32588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TARGET / KPI</a:t>
                      </a:r>
                    </a:p>
                  </a:txBody>
                  <a:tcPr marL="64008" marR="54864" marT="22860" marB="22860" anchor="ctr">
                    <a:solidFill>
                      <a:srgbClr val="122440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Execution duration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Baseline to capture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Target: −30%*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Regression effort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Baseline to capture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Target: −50%*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Pipeline pass rate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Baseline to capture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Track trend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Release lead time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Baseline to capture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73446"/>
                          </a:solidFill>
                          <a:latin typeface="Aptos"/>
                        </a:rPr>
                        <a:t>Target: −30%*</a:t>
                      </a:r>
                    </a:p>
                  </a:txBody>
                  <a:tcPr marL="64008" marR="54864" marT="22860" marB="22860" anchor="ctr">
                    <a:solidFill>
                      <a:srgbClr val="EFF5FB"/>
                    </a:solidFill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543800" y="5230368"/>
            <a:ext cx="4160520" cy="740664"/>
          </a:xfrm>
          <a:prstGeom prst="roundRect">
            <a:avLst/>
          </a:prstGeom>
          <a:solidFill>
            <a:srgbClr val="EFF5FB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8392" y="5303520"/>
            <a:ext cx="384048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0" b="0">
                <a:solidFill>
                  <a:srgbClr val="68778B"/>
                </a:solidFill>
                <a:latin typeface="Aptos"/>
              </a:rPr>
              <a:t>*Targets adapted from the source deck's KPI direction; pipeline-specific savings are not yet evidenced. Capture a release baseline before claiming realized ROI.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108192"/>
            <a:ext cx="111556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BC4E4E"/>
                </a:solidFill>
                <a:latin typeface="Aptos"/>
              </a:rPr>
              <a:t>Method: effort saved = before − after. ROI % shown as supplied in source data; savings are effort-days, not financial ROI.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68778B"/>
                </a:solidFill>
                <a:latin typeface="Aptos"/>
              </a:rPr>
              <a:t>Nexus One | AI-driven Quality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09960" y="6565392"/>
            <a:ext cx="548640" cy="54864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22440"/>
                </a:solidFill>
                <a:latin typeface="Aptos"/>
              </a:rPr>
              <a:t>Success Measures &amp; Management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68778B"/>
                </a:solidFill>
                <a:latin typeface="Aptos"/>
              </a:rPr>
              <a:t>Close the loop: measure, validate, then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009CA6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2120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TRACK EVERY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2359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65836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09CA6"/>
                </a:solidFill>
                <a:latin typeface="Aptos"/>
              </a:rP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783080"/>
            <a:ext cx="135331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73446"/>
                </a:solidFill>
                <a:latin typeface="Aptos"/>
              </a:rPr>
              <a:t>Regression effort reduction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691640"/>
            <a:ext cx="2359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783080"/>
            <a:ext cx="65836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663BE"/>
                </a:solidFill>
                <a:latin typeface="Aptos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1783080"/>
            <a:ext cx="135331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73446"/>
                </a:solidFill>
                <a:latin typeface="Aptos"/>
              </a:rPr>
              <a:t>Test data preparation reduction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34640"/>
            <a:ext cx="2359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65836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B9465"/>
                </a:solidFill>
                <a:latin typeface="Aptos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2926080"/>
            <a:ext cx="135331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73446"/>
                </a:solidFill>
                <a:latin typeface="Aptos"/>
              </a:rPr>
              <a:t>Release cycle-time reduction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834640"/>
            <a:ext cx="2359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2926080"/>
            <a:ext cx="65836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DE972A"/>
                </a:solidFill>
                <a:latin typeface="Aptos"/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2926080"/>
            <a:ext cx="135331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73446"/>
                </a:solidFill>
                <a:latin typeface="Aptos"/>
              </a:rPr>
              <a:t>Coverage &amp; evidence completeness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243584"/>
            <a:ext cx="56692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481328"/>
            <a:ext cx="5029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22440"/>
                </a:solidFill>
                <a:latin typeface="Aptos"/>
              </a:rPr>
              <a:t>MANAGEMENT GATES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938528"/>
            <a:ext cx="384048" cy="384048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93852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1920240"/>
            <a:ext cx="443484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30" b="1">
                <a:solidFill>
                  <a:srgbClr val="122440"/>
                </a:solidFill>
                <a:latin typeface="Aptos"/>
              </a:rPr>
              <a:t>Approve pilot scope &amp; product owners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167128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40" b="0">
                <a:solidFill>
                  <a:srgbClr val="68778B"/>
                </a:solidFill>
                <a:latin typeface="Aptos"/>
              </a:rPr>
              <a:t>Select representative UI, API, performance and settlement scenarios.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2688336"/>
            <a:ext cx="384048" cy="384048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688336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670048"/>
            <a:ext cx="443484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30" b="1">
                <a:solidFill>
                  <a:srgbClr val="122440"/>
                </a:solidFill>
                <a:latin typeface="Aptos"/>
              </a:rPr>
              <a:t>Lock the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916936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40" b="0">
                <a:solidFill>
                  <a:srgbClr val="68778B"/>
                </a:solidFill>
                <a:latin typeface="Aptos"/>
              </a:rPr>
              <a:t>Capture effort-days, execution duration, defects and release cycle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3438144"/>
            <a:ext cx="384048" cy="384048"/>
          </a:xfrm>
          <a:prstGeom prst="roundRect">
            <a:avLst/>
          </a:prstGeom>
          <a:solidFill>
            <a:srgbClr val="26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438144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3419856"/>
            <a:ext cx="443484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30" b="1">
                <a:solidFill>
                  <a:srgbClr val="122440"/>
                </a:solidFill>
                <a:latin typeface="Aptos"/>
              </a:rPr>
              <a:t>Validate quality 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3666744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40" b="0">
                <a:solidFill>
                  <a:srgbClr val="68778B"/>
                </a:solidFill>
                <a:latin typeface="Aptos"/>
              </a:rPr>
              <a:t>Track false positives, escaped defects, coverage and audit evidence.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4187952"/>
            <a:ext cx="384048" cy="384048"/>
          </a:xfrm>
          <a:prstGeom prst="roundRect">
            <a:avLst/>
          </a:prstGeom>
          <a:solidFill>
            <a:srgbClr val="26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187952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4169664"/>
            <a:ext cx="443484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30" b="1">
                <a:solidFill>
                  <a:srgbClr val="122440"/>
                </a:solidFill>
                <a:latin typeface="Aptos"/>
              </a:rPr>
              <a:t>Scale only after proof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4416552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40" b="0">
                <a:solidFill>
                  <a:srgbClr val="68778B"/>
                </a:solidFill>
                <a:latin typeface="Aptos"/>
              </a:rPr>
              <a:t>Compare like-for-like releases; report realized savings separately from targets.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224528"/>
            <a:ext cx="5074920" cy="1024128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370832"/>
            <a:ext cx="4617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9CA6"/>
                </a:solidFill>
                <a:latin typeface="Aptos"/>
              </a:rPr>
              <a:t>ROI FORMULA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4645152"/>
            <a:ext cx="46177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22440"/>
                </a:solidFill>
                <a:latin typeface="Aptos"/>
              </a:rPr>
              <a:t>Effort saving % = (Baseline effort − AI-assisted effort) ÷ Baseline effort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010912"/>
            <a:ext cx="46177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8778B"/>
                </a:solidFill>
                <a:latin typeface="Aptos"/>
              </a:rPr>
              <a:t>Financial ROI needs cost per day + implementation cost.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5669280"/>
            <a:ext cx="1097280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22440"/>
                </a:solidFill>
                <a:latin typeface="Aptos"/>
              </a:rPr>
              <a:t>Decision requested: endorse phased rollout, named owners, baseline measurement and monthly ROI review.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68778B"/>
                </a:solidFill>
                <a:latin typeface="Aptos"/>
              </a:rPr>
              <a:t>Nexus One | AI-driven Quality Engineering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09960" y="6565392"/>
            <a:ext cx="548640" cy="54864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