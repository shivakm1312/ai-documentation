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43891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2500" b="1">
                <a:solidFill>
                  <a:srgbClr val="0E315B"/>
                </a:solidFill>
                <a:latin typeface="Aptos"/>
              </a:rPr>
              <a:t>Nexus One-Driven Testing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22376"/>
            <a:ext cx="1088136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000" b="0">
                <a:solidFill>
                  <a:srgbClr val="687788"/>
                </a:solidFill>
                <a:latin typeface="Aptos"/>
              </a:rPr>
              <a:t>Executive view | Improve testing productivity, reduce effort, accelerate release confidence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10896"/>
            <a:ext cx="384048" cy="29260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/>
            <a:r>
              <a:rPr sz="1100" b="1">
                <a:solidFill>
                  <a:srgbClr val="00979D"/>
                </a:solidFill>
                <a:latin typeface="Aptos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143000"/>
            <a:ext cx="2670048" cy="1033271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1143000"/>
            <a:ext cx="82296" cy="1033271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234440"/>
            <a:ext cx="2286000" cy="36576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2300" b="1">
                <a:solidFill>
                  <a:srgbClr val="00979D"/>
                </a:solidFill>
                <a:latin typeface="Aptos"/>
              </a:rPr>
              <a:t>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609344"/>
            <a:ext cx="2286000" cy="21031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000" b="1">
                <a:solidFill>
                  <a:srgbClr val="0E315B"/>
                </a:solidFill>
                <a:latin typeface="Aptos"/>
              </a:rPr>
              <a:t>Sample effort saving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819656"/>
            <a:ext cx="2286000" cy="18288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819" b="0">
                <a:solidFill>
                  <a:srgbClr val="687788"/>
                </a:solidFill>
                <a:latin typeface="Aptos"/>
              </a:rPr>
              <a:t>SIT WBS phase 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1143000"/>
            <a:ext cx="2670048" cy="1033271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10712" y="1143000"/>
            <a:ext cx="82296" cy="1033271"/>
          </a:xfrm>
          <a:prstGeom prst="rect">
            <a:avLst/>
          </a:prstGeom>
          <a:solidFill>
            <a:srgbClr val="14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1234440"/>
            <a:ext cx="2286000" cy="36576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2300" b="1">
                <a:solidFill>
                  <a:srgbClr val="1465A8"/>
                </a:solidFill>
                <a:latin typeface="Apto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1609344"/>
            <a:ext cx="2286000" cy="21031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000" b="1">
                <a:solidFill>
                  <a:srgbClr val="0E315B"/>
                </a:solidFill>
                <a:latin typeface="Aptos"/>
              </a:rPr>
              <a:t>Automation workstreams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1819656"/>
            <a:ext cx="2286000" cy="18288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819" b="0">
                <a:solidFill>
                  <a:srgbClr val="687788"/>
                </a:solidFill>
                <a:latin typeface="Aptos"/>
              </a:rPr>
              <a:t>UI • API • Performance • Settlement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1143000"/>
            <a:ext cx="2670048" cy="1033271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91072" y="1143000"/>
            <a:ext cx="82296" cy="1033271"/>
          </a:xfrm>
          <a:prstGeom prst="rect">
            <a:avLst/>
          </a:prstGeom>
          <a:solidFill>
            <a:srgbClr val="E79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1234440"/>
            <a:ext cx="2286000" cy="36576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2300" b="1">
                <a:solidFill>
                  <a:srgbClr val="E79F20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1609344"/>
            <a:ext cx="2286000" cy="21031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000" b="1">
                <a:solidFill>
                  <a:srgbClr val="0E315B"/>
                </a:solidFill>
                <a:latin typeface="Aptos"/>
              </a:rPr>
              <a:t>Delivery milestones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1819656"/>
            <a:ext cx="2286000" cy="18288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819" b="0">
                <a:solidFill>
                  <a:srgbClr val="687788"/>
                </a:solidFill>
                <a:latin typeface="Aptos"/>
              </a:rPr>
              <a:t>Pilot → V1.0 → V2.0 → V3.0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71432" y="1143000"/>
            <a:ext cx="2670048" cy="1033271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71432" y="1143000"/>
            <a:ext cx="82296" cy="1033271"/>
          </a:xfrm>
          <a:prstGeom prst="rect">
            <a:avLst/>
          </a:prstGeom>
          <a:solidFill>
            <a:srgbClr val="269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54311" y="1234440"/>
            <a:ext cx="2286000" cy="36576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2300" b="1">
                <a:solidFill>
                  <a:srgbClr val="269768"/>
                </a:solidFill>
                <a:latin typeface="Aptos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54311" y="1609344"/>
            <a:ext cx="2286000" cy="21031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000" b="1">
                <a:solidFill>
                  <a:srgbClr val="0E315B"/>
                </a:solidFill>
                <a:latin typeface="Aptos"/>
              </a:rPr>
              <a:t>Traceable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4311" y="1819656"/>
            <a:ext cx="2286000" cy="18288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819" b="0">
                <a:solidFill>
                  <a:srgbClr val="687788"/>
                </a:solidFill>
                <a:latin typeface="Aptos"/>
              </a:rPr>
              <a:t>Reports, results &amp; audit trail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2450592"/>
            <a:ext cx="5029200" cy="2743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200" b="1">
                <a:solidFill>
                  <a:srgbClr val="0E315B"/>
                </a:solidFill>
                <a:latin typeface="Aptos"/>
              </a:rPr>
              <a:t>AI ENABLEMENT WORKSTREAMS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2779776"/>
            <a:ext cx="2606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94944" y="2944368"/>
            <a:ext cx="438912" cy="438912"/>
          </a:xfrm>
          <a:prstGeom prst="roundRect">
            <a:avLst/>
          </a:prstGeom>
          <a:solidFill>
            <a:srgbClr val="14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2944368"/>
            <a:ext cx="438912" cy="43891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43584" y="2889504"/>
            <a:ext cx="178308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030" b="1">
                <a:solidFill>
                  <a:srgbClr val="0E315B"/>
                </a:solidFill>
                <a:latin typeface="Aptos"/>
              </a:rPr>
              <a:t>UI AUTOMATION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43584" y="3172968"/>
            <a:ext cx="1783080" cy="384048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/>
            <a:r>
              <a:rPr sz="860" b="0">
                <a:solidFill>
                  <a:srgbClr val="687788"/>
                </a:solidFill>
                <a:latin typeface="Aptos"/>
              </a:rPr>
              <a:t>Prompt / story → Playwright tests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37560" y="2779776"/>
            <a:ext cx="2606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483864" y="2944368"/>
            <a:ext cx="438912" cy="438912"/>
          </a:xfrm>
          <a:prstGeom prst="round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83864" y="2944368"/>
            <a:ext cx="438912" cy="43891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32504" y="2889504"/>
            <a:ext cx="178308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030" b="1">
                <a:solidFill>
                  <a:srgbClr val="0E315B"/>
                </a:solidFill>
                <a:latin typeface="Aptos"/>
              </a:rPr>
              <a:t>API AUTOMATION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32504" y="3172968"/>
            <a:ext cx="1783080" cy="384048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/>
            <a:r>
              <a:rPr sz="860" b="0">
                <a:solidFill>
                  <a:srgbClr val="687788"/>
                </a:solidFill>
                <a:latin typeface="Aptos"/>
              </a:rPr>
              <a:t>CRUD, auth, schema &amp; data checks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3858768"/>
            <a:ext cx="2606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94944" y="4023359"/>
            <a:ext cx="438912" cy="438912"/>
          </a:xfrm>
          <a:prstGeom prst="roundRect">
            <a:avLst/>
          </a:prstGeom>
          <a:solidFill>
            <a:srgbClr val="E79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944" y="4023359"/>
            <a:ext cx="438912" cy="43891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43584" y="3968496"/>
            <a:ext cx="178308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030" b="1">
                <a:solidFill>
                  <a:srgbClr val="0E315B"/>
                </a:solidFill>
                <a:latin typeface="Aptos"/>
              </a:rPr>
              <a:t>PERFORMANCE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43584" y="4251959"/>
            <a:ext cx="1783080" cy="384048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/>
            <a:r>
              <a:rPr sz="860" b="0">
                <a:solidFill>
                  <a:srgbClr val="687788"/>
                </a:solidFill>
                <a:latin typeface="Aptos"/>
              </a:rPr>
              <a:t>JMeter scripts, SLA &amp; bottleneck insights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37560" y="3858768"/>
            <a:ext cx="2606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483864" y="4023359"/>
            <a:ext cx="438912" cy="438912"/>
          </a:xfrm>
          <a:prstGeom prst="roundRect">
            <a:avLst/>
          </a:prstGeom>
          <a:solidFill>
            <a:srgbClr val="269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83864" y="4023359"/>
            <a:ext cx="438912" cy="43891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32504" y="3968496"/>
            <a:ext cx="178308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030" b="1">
                <a:solidFill>
                  <a:srgbClr val="0E315B"/>
                </a:solidFill>
                <a:latin typeface="Aptos"/>
              </a:rPr>
              <a:t>SETTLEMENT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32504" y="4251959"/>
            <a:ext cx="1783080" cy="384048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/>
            <a:r>
              <a:rPr sz="860" b="0">
                <a:solidFill>
                  <a:srgbClr val="687788"/>
                </a:solidFill>
                <a:latin typeface="Aptos"/>
              </a:rPr>
              <a:t>Voucher match, amount &amp; record checks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55080" y="2468880"/>
            <a:ext cx="53035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29400" y="2670048"/>
            <a:ext cx="4709160" cy="29260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200" b="1">
                <a:solidFill>
                  <a:srgbClr val="0E315B"/>
                </a:solidFill>
                <a:latin typeface="Aptos"/>
              </a:rPr>
              <a:t>PHASED DELIVERY ROADMAP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629400" y="3072384"/>
            <a:ext cx="749808" cy="384048"/>
          </a:xfrm>
          <a:prstGeom prst="round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29400" y="3072384"/>
            <a:ext cx="749808" cy="38404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PILOT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25512" y="3072384"/>
            <a:ext cx="1389888" cy="23774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919" b="1">
                <a:solidFill>
                  <a:srgbClr val="0E315B"/>
                </a:solidFill>
                <a:latin typeface="Aptos"/>
              </a:rPr>
              <a:t>15 Nov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33688" y="3072384"/>
            <a:ext cx="2377440" cy="38404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850" b="0">
                <a:solidFill>
                  <a:srgbClr val="687788"/>
                </a:solidFill>
                <a:latin typeface="Aptos"/>
              </a:rPr>
              <a:t>Prove value on selected scenarios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629400" y="3703320"/>
            <a:ext cx="749808" cy="384048"/>
          </a:xfrm>
          <a:prstGeom prst="roundRect">
            <a:avLst/>
          </a:prstGeom>
          <a:solidFill>
            <a:srgbClr val="14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29400" y="3703320"/>
            <a:ext cx="749808" cy="38404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V1.0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25512" y="3703320"/>
            <a:ext cx="1389888" cy="23774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919" b="1">
                <a:solidFill>
                  <a:srgbClr val="0E315B"/>
                </a:solidFill>
                <a:latin typeface="Aptos"/>
              </a:rPr>
              <a:t>20 Jan 2027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33688" y="3703320"/>
            <a:ext cx="2377440" cy="38404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850" b="0">
                <a:solidFill>
                  <a:srgbClr val="687788"/>
                </a:solidFill>
                <a:latin typeface="Aptos"/>
              </a:rPr>
              <a:t>Reusable frameworks &amp; reports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629400" y="4334256"/>
            <a:ext cx="749808" cy="384048"/>
          </a:xfrm>
          <a:prstGeom prst="roundRect">
            <a:avLst/>
          </a:prstGeom>
          <a:solidFill>
            <a:srgbClr val="E79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29400" y="4334256"/>
            <a:ext cx="749808" cy="38404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V2.0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25512" y="4334256"/>
            <a:ext cx="1389888" cy="23774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919" b="1">
                <a:solidFill>
                  <a:srgbClr val="0E315B"/>
                </a:solidFill>
                <a:latin typeface="Aptos"/>
              </a:rPr>
              <a:t>20 Feb 2027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33688" y="4334256"/>
            <a:ext cx="2377440" cy="38404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850" b="0">
                <a:solidFill>
                  <a:srgbClr val="687788"/>
                </a:solidFill>
                <a:latin typeface="Aptos"/>
              </a:rPr>
              <a:t>CI/CD, self-healing &amp; scale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629400" y="4965192"/>
            <a:ext cx="749808" cy="384048"/>
          </a:xfrm>
          <a:prstGeom prst="roundRect">
            <a:avLst/>
          </a:prstGeom>
          <a:solidFill>
            <a:srgbClr val="269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29400" y="4965192"/>
            <a:ext cx="749808" cy="38404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V3.0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25512" y="4965192"/>
            <a:ext cx="1389888" cy="23774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919" b="1">
                <a:solidFill>
                  <a:srgbClr val="0E315B"/>
                </a:solidFill>
                <a:latin typeface="Aptos"/>
              </a:rPr>
              <a:t>To be planned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33688" y="4965192"/>
            <a:ext cx="2377440" cy="38404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850" b="0">
                <a:solidFill>
                  <a:srgbClr val="687788"/>
                </a:solidFill>
                <a:latin typeface="Aptos"/>
              </a:rPr>
              <a:t>Enterprise rollout &amp; optimization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4360" y="5166360"/>
            <a:ext cx="5440680" cy="38404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930" b="1">
                <a:solidFill>
                  <a:srgbClr val="C63D43"/>
                </a:solidFill>
                <a:latin typeface="Aptos"/>
              </a:rPr>
              <a:t>ROI is a target until validated against a measured baseline.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920" y="6565392"/>
            <a:ext cx="9601200" cy="14630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800" b="0">
                <a:solidFill>
                  <a:srgbClr val="687788"/>
                </a:solidFill>
                <a:latin typeface="Aptos"/>
              </a:rPr>
              <a:t>Nexus One | Quality Engineering Transformation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201400" y="6583680"/>
            <a:ext cx="438912" cy="50292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43891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2500" b="1">
                <a:solidFill>
                  <a:srgbClr val="0E315B"/>
                </a:solidFill>
                <a:latin typeface="Aptos"/>
              </a:rPr>
              <a:t>Delivery Roadmap | Scope by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22376"/>
            <a:ext cx="1088136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000" b="0">
                <a:solidFill>
                  <a:srgbClr val="687788"/>
                </a:solidFill>
                <a:latin typeface="Aptos"/>
              </a:rPr>
              <a:t>Concise scope for management review; detailed requirements remain editable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10896"/>
            <a:ext cx="384048" cy="29260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/>
            <a:r>
              <a:rPr sz="1100" b="1">
                <a:solidFill>
                  <a:srgbClr val="00979D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188720"/>
            <a:ext cx="265176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188720"/>
            <a:ext cx="91440" cy="603504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243584"/>
            <a:ext cx="777240" cy="2286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100" b="1">
                <a:solidFill>
                  <a:srgbClr val="00979D"/>
                </a:solidFill>
                <a:latin typeface="Aptos"/>
              </a:rPr>
              <a:t>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7048" y="1243584"/>
            <a:ext cx="1508760" cy="2286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/>
            <a:r>
              <a:rPr sz="900" b="1">
                <a:solidFill>
                  <a:srgbClr val="0E315B"/>
                </a:solidFill>
                <a:latin typeface="Aptos"/>
              </a:rPr>
              <a:t>15 NOV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8688" y="1307592"/>
            <a:ext cx="228600" cy="2286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1500" b="1">
                <a:solidFill>
                  <a:srgbClr val="00979D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188720"/>
            <a:ext cx="265176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56432" y="1188720"/>
            <a:ext cx="91440" cy="603504"/>
          </a:xfrm>
          <a:prstGeom prst="rect">
            <a:avLst/>
          </a:prstGeom>
          <a:solidFill>
            <a:srgbClr val="14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9312" y="1243584"/>
            <a:ext cx="777240" cy="2286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100" b="1">
                <a:solidFill>
                  <a:srgbClr val="1465A8"/>
                </a:solidFill>
                <a:latin typeface="Aptos"/>
              </a:rPr>
              <a:t>V1.0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1243584"/>
            <a:ext cx="1508760" cy="2286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/>
            <a:r>
              <a:rPr sz="900" b="1">
                <a:solidFill>
                  <a:srgbClr val="0E315B"/>
                </a:solidFill>
                <a:latin typeface="Aptos"/>
              </a:rPr>
              <a:t>20 JAN 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8192" y="1307592"/>
            <a:ext cx="228600" cy="2286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1500" b="1">
                <a:solidFill>
                  <a:srgbClr val="00979D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45936" y="1188720"/>
            <a:ext cx="265176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45936" y="1188720"/>
            <a:ext cx="91440" cy="603504"/>
          </a:xfrm>
          <a:prstGeom prst="rect">
            <a:avLst/>
          </a:prstGeom>
          <a:solidFill>
            <a:srgbClr val="E79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8816" y="1243584"/>
            <a:ext cx="777240" cy="2286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100" b="1">
                <a:solidFill>
                  <a:srgbClr val="E79F20"/>
                </a:solidFill>
                <a:latin typeface="Aptos"/>
              </a:rPr>
              <a:t>V2.0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06056" y="1243584"/>
            <a:ext cx="1508760" cy="2286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/>
            <a:r>
              <a:rPr sz="900" b="1">
                <a:solidFill>
                  <a:srgbClr val="0E315B"/>
                </a:solidFill>
                <a:latin typeface="Aptos"/>
              </a:rPr>
              <a:t>20 FEB 2027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1307592"/>
            <a:ext cx="228600" cy="2286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1500" b="1">
                <a:solidFill>
                  <a:srgbClr val="00979D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1188720"/>
            <a:ext cx="265176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1188720"/>
            <a:ext cx="91440" cy="603504"/>
          </a:xfrm>
          <a:prstGeom prst="rect">
            <a:avLst/>
          </a:prstGeom>
          <a:solidFill>
            <a:srgbClr val="269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19" y="1243584"/>
            <a:ext cx="777240" cy="2286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100" b="1">
                <a:solidFill>
                  <a:srgbClr val="269768"/>
                </a:solidFill>
                <a:latin typeface="Aptos"/>
              </a:rPr>
              <a:t>V3.0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5560" y="1243584"/>
            <a:ext cx="1508760" cy="2286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/>
            <a:r>
              <a:rPr sz="900" b="1">
                <a:solidFill>
                  <a:srgbClr val="0E315B"/>
                </a:solidFill>
                <a:latin typeface="Aptos"/>
              </a:rPr>
              <a:t>TBD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2011680"/>
            <a:ext cx="2743200" cy="3950208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2011680"/>
            <a:ext cx="2743200" cy="566928"/>
          </a:xfrm>
          <a:prstGeom prst="roundRect">
            <a:avLst/>
          </a:prstGeom>
          <a:solidFill>
            <a:srgbClr val="0E3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" y="2048256"/>
            <a:ext cx="246888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UI AUTOMATION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" y="2286000"/>
            <a:ext cx="2468880" cy="18288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780" b="1">
                <a:solidFill>
                  <a:srgbClr val="44B0CC"/>
                </a:solidFill>
                <a:latin typeface="Aptos"/>
              </a:rPr>
              <a:t>PLAYWRIGHT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" y="2724912"/>
            <a:ext cx="640080" cy="274320"/>
          </a:xfrm>
          <a:prstGeom prst="round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2724912"/>
            <a:ext cx="640080" cy="2743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PILOT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2706624"/>
            <a:ext cx="1773936" cy="63093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/>
            <a:r>
              <a:rPr sz="770" b="0">
                <a:solidFill>
                  <a:srgbClr val="2A3646"/>
                </a:solidFill>
                <a:latin typeface="Aptos"/>
              </a:rPr>
              <a:t>Prompt → scripts; navigation, forms, assertions &amp; screenshots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" y="3483864"/>
            <a:ext cx="640080" cy="274320"/>
          </a:xfrm>
          <a:prstGeom prst="roundRect">
            <a:avLst/>
          </a:prstGeom>
          <a:solidFill>
            <a:srgbClr val="14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3483864"/>
            <a:ext cx="640080" cy="2743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V1.0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44168" y="3465576"/>
            <a:ext cx="1773936" cy="63093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/>
            <a:r>
              <a:rPr sz="770" b="0">
                <a:solidFill>
                  <a:srgbClr val="2A3646"/>
                </a:solidFill>
                <a:latin typeface="Aptos"/>
              </a:rPr>
              <a:t>POM, data-driven tests, file/DB checks, CAPTCHA/OTP; story/Jira → scripts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" y="4242816"/>
            <a:ext cx="640080" cy="274320"/>
          </a:xfrm>
          <a:prstGeom prst="roundRect">
            <a:avLst/>
          </a:prstGeom>
          <a:solidFill>
            <a:srgbClr val="E79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4242816"/>
            <a:ext cx="640080" cy="2743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44168" y="4224528"/>
            <a:ext cx="1773936" cy="63093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/>
            <a:r>
              <a:rPr sz="770" b="0">
                <a:solidFill>
                  <a:srgbClr val="2A3646"/>
                </a:solidFill>
                <a:latin typeface="Aptos"/>
              </a:rPr>
              <a:t>CI/CD, self-healing, mobile flows, advanced controls &amp; email reports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5001768"/>
            <a:ext cx="640080" cy="274320"/>
          </a:xfrm>
          <a:prstGeom prst="roundRect">
            <a:avLst/>
          </a:prstGeom>
          <a:solidFill>
            <a:srgbClr val="269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" y="5001768"/>
            <a:ext cx="640080" cy="2743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V3.0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44168" y="4983480"/>
            <a:ext cx="1773936" cy="63093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/>
            <a:r>
              <a:rPr sz="770" b="0">
                <a:solidFill>
                  <a:srgbClr val="2A3646"/>
                </a:solidFill>
                <a:latin typeface="Aptos"/>
              </a:rPr>
              <a:t>Scale, governance and continuous quality improvements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29000" y="2011680"/>
            <a:ext cx="2743200" cy="3950208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429000" y="2011680"/>
            <a:ext cx="2743200" cy="566928"/>
          </a:xfrm>
          <a:prstGeom prst="roundRect">
            <a:avLst/>
          </a:prstGeom>
          <a:solidFill>
            <a:srgbClr val="0E3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57016" y="2048256"/>
            <a:ext cx="246888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API AUTOMATION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57016" y="2286000"/>
            <a:ext cx="2468880" cy="18288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780" b="1">
                <a:solidFill>
                  <a:srgbClr val="44B0CC"/>
                </a:solidFill>
                <a:latin typeface="Aptos"/>
              </a:rPr>
              <a:t>API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547872" y="2724912"/>
            <a:ext cx="640080" cy="274320"/>
          </a:xfrm>
          <a:prstGeom prst="round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47872" y="2724912"/>
            <a:ext cx="640080" cy="2743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PILOT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70248" y="2706624"/>
            <a:ext cx="1773936" cy="63093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/>
            <a:r>
              <a:rPr sz="770" b="0">
                <a:solidFill>
                  <a:srgbClr val="2A3646"/>
                </a:solidFill>
                <a:latin typeface="Aptos"/>
              </a:rPr>
              <a:t>CRUD, positive/negative, boundaries, auth, responses &amp; uploads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547872" y="3483864"/>
            <a:ext cx="640080" cy="274320"/>
          </a:xfrm>
          <a:prstGeom prst="roundRect">
            <a:avLst/>
          </a:prstGeom>
          <a:solidFill>
            <a:srgbClr val="14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47872" y="3483864"/>
            <a:ext cx="640080" cy="2743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V1.0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70248" y="3465576"/>
            <a:ext cx="1773936" cy="63093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/>
            <a:r>
              <a:rPr sz="770" b="0">
                <a:solidFill>
                  <a:srgbClr val="2A3646"/>
                </a:solidFill>
                <a:latin typeface="Aptos"/>
              </a:rPr>
              <a:t>Reusable framework, DB checks and story/Jira-driven scripts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547872" y="4242816"/>
            <a:ext cx="640080" cy="274320"/>
          </a:xfrm>
          <a:prstGeom prst="roundRect">
            <a:avLst/>
          </a:prstGeom>
          <a:solidFill>
            <a:srgbClr val="E79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47872" y="4242816"/>
            <a:ext cx="640080" cy="2743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V2.0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70248" y="4224528"/>
            <a:ext cx="1773936" cy="63093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/>
            <a:r>
              <a:rPr sz="770" b="0">
                <a:solidFill>
                  <a:srgbClr val="2A3646"/>
                </a:solidFill>
                <a:latin typeface="Aptos"/>
              </a:rPr>
              <a:t>CI/CD integration and coding standards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547872" y="5001768"/>
            <a:ext cx="640080" cy="274320"/>
          </a:xfrm>
          <a:prstGeom prst="roundRect">
            <a:avLst/>
          </a:prstGeom>
          <a:solidFill>
            <a:srgbClr val="269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47872" y="5001768"/>
            <a:ext cx="640080" cy="2743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V3.0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70248" y="4983480"/>
            <a:ext cx="1773936" cy="63093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/>
            <a:r>
              <a:rPr sz="770" b="0">
                <a:solidFill>
                  <a:srgbClr val="2A3646"/>
                </a:solidFill>
                <a:latin typeface="Aptos"/>
              </a:rPr>
              <a:t>Expand service coverage and operational monitoring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55080" y="2011680"/>
            <a:ext cx="2743200" cy="3950208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355080" y="2011680"/>
            <a:ext cx="2743200" cy="566928"/>
          </a:xfrm>
          <a:prstGeom prst="roundRect">
            <a:avLst/>
          </a:prstGeom>
          <a:solidFill>
            <a:srgbClr val="0E3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83096" y="2048256"/>
            <a:ext cx="246888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PERFORMANCE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83096" y="2286000"/>
            <a:ext cx="2468880" cy="18288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780" b="1">
                <a:solidFill>
                  <a:srgbClr val="44B0CC"/>
                </a:solidFill>
                <a:latin typeface="Aptos"/>
              </a:rPr>
              <a:t>JMETER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73952" y="2724912"/>
            <a:ext cx="640080" cy="274320"/>
          </a:xfrm>
          <a:prstGeom prst="round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73952" y="2724912"/>
            <a:ext cx="640080" cy="2743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PILOT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96328" y="2706624"/>
            <a:ext cx="1773936" cy="63093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/>
            <a:r>
              <a:rPr sz="770" b="0">
                <a:solidFill>
                  <a:srgbClr val="2A3646"/>
                </a:solidFill>
                <a:latin typeface="Aptos"/>
              </a:rPr>
              <a:t>AI scripts; load, correlation, sequencing, encryption &amp; SLA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473952" y="3483864"/>
            <a:ext cx="640080" cy="274320"/>
          </a:xfrm>
          <a:prstGeom prst="roundRect">
            <a:avLst/>
          </a:prstGeom>
          <a:solidFill>
            <a:srgbClr val="14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73952" y="3483864"/>
            <a:ext cx="640080" cy="2743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V1.0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96328" y="3465576"/>
            <a:ext cx="1773936" cy="63093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/>
            <a:r>
              <a:rPr sz="770" b="0">
                <a:solidFill>
                  <a:srgbClr val="2A3646"/>
                </a:solidFill>
                <a:latin typeface="Aptos"/>
              </a:rPr>
              <a:t>Stress/spike/endurance, CSV data, monitoring and HTML reports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473952" y="4242816"/>
            <a:ext cx="640080" cy="274320"/>
          </a:xfrm>
          <a:prstGeom prst="roundRect">
            <a:avLst/>
          </a:prstGeom>
          <a:solidFill>
            <a:srgbClr val="E79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73952" y="4242816"/>
            <a:ext cx="640080" cy="2743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V2.0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96328" y="4224528"/>
            <a:ext cx="1773936" cy="63093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/>
            <a:r>
              <a:rPr sz="770" b="0">
                <a:solidFill>
                  <a:srgbClr val="2A3646"/>
                </a:solidFill>
                <a:latin typeface="Aptos"/>
              </a:rPr>
              <a:t>Browser journeys, scale tests, trends &amp; bottleneck dashboards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473952" y="5001768"/>
            <a:ext cx="640080" cy="274320"/>
          </a:xfrm>
          <a:prstGeom prst="roundRect">
            <a:avLst/>
          </a:prstGeom>
          <a:solidFill>
            <a:srgbClr val="269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73952" y="5001768"/>
            <a:ext cx="640080" cy="2743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V3.0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96328" y="4983480"/>
            <a:ext cx="1773936" cy="63093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/>
            <a:r>
              <a:rPr sz="770" b="0">
                <a:solidFill>
                  <a:srgbClr val="2A3646"/>
                </a:solidFill>
                <a:latin typeface="Aptos"/>
              </a:rPr>
              <a:t>Capacity forecasting and continuous performance gates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281160" y="2011680"/>
            <a:ext cx="2743200" cy="3950208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9281160" y="2011680"/>
            <a:ext cx="2743200" cy="566928"/>
          </a:xfrm>
          <a:prstGeom prst="roundRect">
            <a:avLst/>
          </a:prstGeom>
          <a:solidFill>
            <a:srgbClr val="0E3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409176" y="2048256"/>
            <a:ext cx="246888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SETTLEMENT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409176" y="2286000"/>
            <a:ext cx="2468880" cy="18288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780" b="1">
                <a:solidFill>
                  <a:srgbClr val="44B0CC"/>
                </a:solidFill>
                <a:latin typeface="Aptos"/>
              </a:rPr>
              <a:t>VALIDATION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400032" y="2724912"/>
            <a:ext cx="640080" cy="274320"/>
          </a:xfrm>
          <a:prstGeom prst="round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400032" y="2724912"/>
            <a:ext cx="640080" cy="2743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PILOT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122408" y="2706624"/>
            <a:ext cx="1773936" cy="63093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/>
            <a:r>
              <a:rPr sz="770" b="0">
                <a:solidFill>
                  <a:srgbClr val="2A3646"/>
                </a:solidFill>
                <a:latin typeface="Aptos"/>
              </a:rPr>
              <a:t>Voucher match; amounts, dates, formats, blanks &amp; missing/extra records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400032" y="3483864"/>
            <a:ext cx="640080" cy="274320"/>
          </a:xfrm>
          <a:prstGeom prst="roundRect">
            <a:avLst/>
          </a:prstGeom>
          <a:solidFill>
            <a:srgbClr val="14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400032" y="3483864"/>
            <a:ext cx="640080" cy="2743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V1.0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122408" y="3465576"/>
            <a:ext cx="1773936" cy="63093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/>
            <a:r>
              <a:rPr sz="770" b="0">
                <a:solidFill>
                  <a:srgbClr val="2A3646"/>
                </a:solidFill>
                <a:latin typeface="Aptos"/>
              </a:rPr>
              <a:t>Multi-file reconciliation, mismatch analysis &amp; Excel audit report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400032" y="4242816"/>
            <a:ext cx="640080" cy="274320"/>
          </a:xfrm>
          <a:prstGeom prst="roundRect">
            <a:avLst/>
          </a:prstGeom>
          <a:solidFill>
            <a:srgbClr val="E79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400032" y="4242816"/>
            <a:ext cx="640080" cy="2743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V2.0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122408" y="4224528"/>
            <a:ext cx="1773936" cy="63093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/>
            <a:r>
              <a:rPr sz="770" b="0">
                <a:solidFill>
                  <a:srgbClr val="2A3646"/>
                </a:solidFill>
                <a:latin typeface="Aptos"/>
              </a:rPr>
              <a:t>Prioritize recurring controls based on pilot results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400032" y="5001768"/>
            <a:ext cx="640080" cy="274320"/>
          </a:xfrm>
          <a:prstGeom prst="roundRect">
            <a:avLst/>
          </a:prstGeom>
          <a:solidFill>
            <a:srgbClr val="269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400032" y="5001768"/>
            <a:ext cx="640080" cy="2743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V3.0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122408" y="4983480"/>
            <a:ext cx="1773936" cy="630936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/>
            <a:r>
              <a:rPr sz="770" b="0">
                <a:solidFill>
                  <a:srgbClr val="2A3646"/>
                </a:solidFill>
                <a:latin typeface="Aptos"/>
              </a:rPr>
              <a:t>Broader reconciliation coverage and standardized reporting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02920" y="6565392"/>
            <a:ext cx="9601200" cy="14630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800" b="0">
                <a:solidFill>
                  <a:srgbClr val="687788"/>
                </a:solidFill>
                <a:latin typeface="Aptos"/>
              </a:rPr>
              <a:t>Nexus One | Quality Engineering Transformation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1201400" y="6583680"/>
            <a:ext cx="438912" cy="50292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43891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2500" b="1">
                <a:solidFill>
                  <a:srgbClr val="0E315B"/>
                </a:solidFill>
                <a:latin typeface="Aptos"/>
              </a:rPr>
              <a:t>Effort Savings &amp;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22376"/>
            <a:ext cx="1088136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000" b="0">
                <a:solidFill>
                  <a:srgbClr val="687788"/>
                </a:solidFill>
                <a:latin typeface="Aptos"/>
              </a:rPr>
              <a:t>Effort-days and per-test-case minutes must be measured separately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10896"/>
            <a:ext cx="384048" cy="29260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/>
            <a:r>
              <a:rPr sz="1100" b="1">
                <a:solidFill>
                  <a:srgbClr val="00979D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24712"/>
            <a:ext cx="5303520" cy="2743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200" b="1">
                <a:solidFill>
                  <a:srgbClr val="0E315B"/>
                </a:solidFill>
                <a:latin typeface="Aptos"/>
              </a:rPr>
              <a:t>SIT WBS PHASE ROI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5285232" cy="2286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840" b="0">
                <a:solidFill>
                  <a:srgbClr val="687788"/>
                </a:solidFill>
                <a:latin typeface="Aptos"/>
              </a:rPr>
              <a:t>Illustrative baseline values from source deck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0352" y="1673352"/>
          <a:ext cx="530352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1005840"/>
                <a:gridCol w="1005840"/>
                <a:gridCol w="1234440"/>
              </a:tblGrid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830" b="1">
                          <a:solidFill>
                            <a:srgbClr val="FFFFFF"/>
                          </a:solidFill>
                          <a:latin typeface="Aptos"/>
                        </a:rPr>
                        <a:t>ACTIVITY</a:t>
                      </a:r>
                    </a:p>
                  </a:txBody>
                  <a:tcPr marL="64008" marR="54864" marT="22860" marB="22860" anchor="ctr">
                    <a:solidFill>
                      <a:srgbClr val="0E315B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1">
                          <a:solidFill>
                            <a:srgbClr val="FFFFFF"/>
                          </a:solidFill>
                          <a:latin typeface="Aptos"/>
                        </a:rPr>
                        <a:t>BEFORE</a:t>
                      </a:r>
                    </a:p>
                  </a:txBody>
                  <a:tcPr marL="64008" marR="54864" marT="22860" marB="22860" anchor="ctr">
                    <a:solidFill>
                      <a:srgbClr val="0E315B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1">
                          <a:solidFill>
                            <a:srgbClr val="FFFFFF"/>
                          </a:solidFill>
                          <a:latin typeface="Aptos"/>
                        </a:rPr>
                        <a:t>AFTER</a:t>
                      </a:r>
                    </a:p>
                  </a:txBody>
                  <a:tcPr marL="64008" marR="54864" marT="22860" marB="22860" anchor="ctr">
                    <a:solidFill>
                      <a:srgbClr val="0E315B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1">
                          <a:solidFill>
                            <a:srgbClr val="FFFFFF"/>
                          </a:solidFill>
                          <a:latin typeface="Aptos"/>
                        </a:rPr>
                        <a:t>SAVING</a:t>
                      </a:r>
                    </a:p>
                  </a:txBody>
                  <a:tcPr marL="64008" marR="54864" marT="22860" marB="22860" anchor="ctr">
                    <a:solidFill>
                      <a:srgbClr val="0E315B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A3646"/>
                          </a:solidFill>
                          <a:latin typeface="Aptos"/>
                        </a:rPr>
                        <a:t>Test execution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A3646"/>
                          </a:solidFill>
                          <a:latin typeface="Aptos"/>
                        </a:rPr>
                        <a:t>10.7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A3646"/>
                          </a:solidFill>
                          <a:latin typeface="Aptos"/>
                        </a:rPr>
                        <a:t>4.3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A3646"/>
                          </a:solidFill>
                          <a:latin typeface="Aptos"/>
                        </a:rPr>
                        <a:t>40.2%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A3646"/>
                          </a:solidFill>
                          <a:latin typeface="Aptos"/>
                        </a:rPr>
                        <a:t>Defect re-testing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A3646"/>
                          </a:solidFill>
                          <a:latin typeface="Aptos"/>
                        </a:rPr>
                        <a:t>17.8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A3646"/>
                          </a:solidFill>
                          <a:latin typeface="Aptos"/>
                        </a:rPr>
                        <a:t>7.2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A3646"/>
                          </a:solidFill>
                          <a:latin typeface="Aptos"/>
                        </a:rPr>
                        <a:t>40.4%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A3646"/>
                          </a:solidFill>
                          <a:latin typeface="Aptos"/>
                        </a:rPr>
                        <a:t>Regression testing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A3646"/>
                          </a:solidFill>
                          <a:latin typeface="Aptos"/>
                        </a:rPr>
                        <a:t>11.9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A3646"/>
                          </a:solidFill>
                          <a:latin typeface="Aptos"/>
                        </a:rPr>
                        <a:t>4.8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A3646"/>
                          </a:solidFill>
                          <a:latin typeface="Aptos"/>
                        </a:rPr>
                        <a:t>40.3%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30352" y="3310128"/>
            <a:ext cx="5303520" cy="640080"/>
          </a:xfrm>
          <a:prstGeom prst="roundRect">
            <a:avLst/>
          </a:prstGeom>
          <a:solidFill>
            <a:srgbClr val="EDF6FA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364992"/>
            <a:ext cx="4937760" cy="23774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930" b="1">
                <a:solidFill>
                  <a:srgbClr val="0E315B"/>
                </a:solidFill>
                <a:latin typeface="Aptos"/>
              </a:rPr>
              <a:t>Per-test-case minutes: baseline and AI-assisted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602736"/>
            <a:ext cx="4937760" cy="20116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800" b="0">
                <a:solidFill>
                  <a:srgbClr val="687788"/>
                </a:solidFill>
                <a:latin typeface="Aptos"/>
              </a:rPr>
              <a:t>Not supplied in source; capture during pilot before claiming minutes saved.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4142232"/>
            <a:ext cx="11064240" cy="2743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150" b="1">
                <a:solidFill>
                  <a:srgbClr val="0E315B"/>
                </a:solidFill>
                <a:latin typeface="Aptos"/>
              </a:rPr>
              <a:t>01  ONGOING IMPLEMENTATION WORK — SAVINGS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30352" y="4443984"/>
          <a:ext cx="6903720" cy="1719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8992"/>
                <a:gridCol w="1417320"/>
                <a:gridCol w="1024128"/>
                <a:gridCol w="960120"/>
                <a:gridCol w="1024128"/>
                <a:gridCol w="1399032"/>
              </a:tblGrid>
              <a:tr h="132236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ptos"/>
                        </a:rPr>
                        <a:t>PRODUCT</a:t>
                      </a:r>
                    </a:p>
                  </a:txBody>
                  <a:tcPr marL="64008" marR="54864" marT="22860" marB="22860" anchor="ctr">
                    <a:solidFill>
                      <a:srgbClr val="0E315B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ptos"/>
                        </a:rPr>
                        <a:t>CLIENT / PROJECT</a:t>
                      </a:r>
                    </a:p>
                  </a:txBody>
                  <a:tcPr marL="64008" marR="54864" marT="22860" marB="22860" anchor="ctr">
                    <a:solidFill>
                      <a:srgbClr val="0E315B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ptos"/>
                        </a:rPr>
                        <a:t>BEFORE (D)</a:t>
                      </a:r>
                    </a:p>
                  </a:txBody>
                  <a:tcPr marL="64008" marR="54864" marT="22860" marB="22860" anchor="ctr">
                    <a:solidFill>
                      <a:srgbClr val="0E315B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ptos"/>
                        </a:rPr>
                        <a:t>AFTER (D)</a:t>
                      </a:r>
                    </a:p>
                  </a:txBody>
                  <a:tcPr marL="64008" marR="54864" marT="22860" marB="22860" anchor="ctr">
                    <a:solidFill>
                      <a:srgbClr val="0E315B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ptos"/>
                        </a:rPr>
                        <a:t>SAVED (D)</a:t>
                      </a:r>
                    </a:p>
                  </a:txBody>
                  <a:tcPr marL="64008" marR="54864" marT="22860" marB="22860" anchor="ctr">
                    <a:solidFill>
                      <a:srgbClr val="0E315B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ptos"/>
                        </a:rPr>
                        <a:t>ROI</a:t>
                      </a:r>
                    </a:p>
                  </a:txBody>
                  <a:tcPr marL="64008" marR="54864" marT="22860" marB="22860" anchor="ctr">
                    <a:solidFill>
                      <a:srgbClr val="0E315B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</a:tr>
              <a:tr h="132236"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PG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Ecentric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58%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</a:tr>
              <a:tr h="132236"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PG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Pinelabs-WIO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60%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</a:tr>
              <a:tr h="132236"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Blaze CMS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SBI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30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33%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</a:tr>
              <a:tr h="132236"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Blaze CMS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Kotak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30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33%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</a:tr>
              <a:tr h="132236"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Blaze CMS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CBI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47%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</a:tr>
              <a:tr h="132236"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Recon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HDFC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47%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</a:tr>
              <a:tr h="132236"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Recon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Kotak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23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35%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</a:tr>
              <a:tr h="132236"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Recon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IPPB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47%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</a:tr>
              <a:tr h="132236"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Recon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NI_Settlement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50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25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25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50%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</a:tr>
              <a:tr h="132236"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Recon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NI_Recon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45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25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56%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</a:tr>
              <a:tr h="132236"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Recon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ADCB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40%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</a:tr>
              <a:tr h="132240"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Recon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QNB Alhali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A3646"/>
                          </a:solidFill>
                          <a:latin typeface="Aptos"/>
                        </a:rPr>
                        <a:t>40%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680960" y="1124712"/>
            <a:ext cx="4005072" cy="2743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040" b="1">
                <a:solidFill>
                  <a:srgbClr val="0E315B"/>
                </a:solidFill>
                <a:latin typeface="Aptos"/>
              </a:rPr>
              <a:t>02  REGRESSION SAVING PER RELEASE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680960" y="1463040"/>
          <a:ext cx="4005072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568"/>
                <a:gridCol w="1024128"/>
                <a:gridCol w="1060704"/>
                <a:gridCol w="804672"/>
              </a:tblGrid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ptos"/>
                        </a:rPr>
                        <a:t>MEASURE</a:t>
                      </a:r>
                    </a:p>
                  </a:txBody>
                  <a:tcPr marL="64008" marR="54864" marT="22860" marB="22860" anchor="ctr">
                    <a:solidFill>
                      <a:srgbClr val="0E315B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ptos"/>
                        </a:rPr>
                        <a:t>BASELINE</a:t>
                      </a:r>
                    </a:p>
                  </a:txBody>
                  <a:tcPr marL="64008" marR="54864" marT="22860" marB="22860" anchor="ctr">
                    <a:solidFill>
                      <a:srgbClr val="0E315B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ptos"/>
                        </a:rPr>
                        <a:t>AI RESULT</a:t>
                      </a:r>
                    </a:p>
                  </a:txBody>
                  <a:tcPr marL="64008" marR="54864" marT="22860" marB="22860" anchor="ctr">
                    <a:solidFill>
                      <a:srgbClr val="0E315B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ptos"/>
                        </a:rPr>
                        <a:t>OUTPUT</a:t>
                      </a:r>
                    </a:p>
                  </a:txBody>
                  <a:tcPr marL="64008" marR="54864" marT="22860" marB="22860" anchor="ctr">
                    <a:solidFill>
                      <a:srgbClr val="0E315B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2A3646"/>
                          </a:solidFill>
                          <a:latin typeface="Aptos"/>
                        </a:rPr>
                        <a:t>Release effort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A3646"/>
                          </a:solidFill>
                          <a:latin typeface="Aptos"/>
                        </a:rPr>
                        <a:t>Baseline effort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A3646"/>
                          </a:solidFill>
                          <a:latin typeface="Aptos"/>
                        </a:rPr>
                        <a:t>AI-assisted effort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A3646"/>
                          </a:solidFill>
                          <a:latin typeface="Aptos"/>
                        </a:rPr>
                        <a:t>Effort saved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2A3646"/>
                          </a:solidFill>
                          <a:latin typeface="Aptos"/>
                        </a:rPr>
                        <a:t>Release ROI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A3646"/>
                          </a:solidFill>
                          <a:latin typeface="Aptos"/>
                        </a:rPr>
                        <a:t>Before vs after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A3646"/>
                          </a:solidFill>
                          <a:latin typeface="Aptos"/>
                        </a:rPr>
                        <a:t>Compare same scope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A3646"/>
                          </a:solidFill>
                          <a:latin typeface="Aptos"/>
                        </a:rPr>
                        <a:t>% saved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7680960" y="2596896"/>
            <a:ext cx="3977639" cy="21945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040" b="1">
                <a:solidFill>
                  <a:srgbClr val="0E315B"/>
                </a:solidFill>
                <a:latin typeface="Aptos"/>
              </a:rPr>
              <a:t>03  PIPELINE RELEASE ROI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680960" y="2898648"/>
          <a:ext cx="4005072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960120"/>
                <a:gridCol w="1097280"/>
                <a:gridCol w="804672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ptos"/>
                        </a:rPr>
                        <a:t>KPI</a:t>
                      </a:r>
                    </a:p>
                  </a:txBody>
                  <a:tcPr marL="64008" marR="54864" marT="22860" marB="22860" anchor="ctr">
                    <a:solidFill>
                      <a:srgbClr val="0E315B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ptos"/>
                        </a:rPr>
                        <a:t>BASELINE</a:t>
                      </a:r>
                    </a:p>
                  </a:txBody>
                  <a:tcPr marL="64008" marR="54864" marT="22860" marB="22860" anchor="ctr">
                    <a:solidFill>
                      <a:srgbClr val="0E315B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ptos"/>
                        </a:rPr>
                        <a:t>AI RESULT</a:t>
                      </a:r>
                    </a:p>
                  </a:txBody>
                  <a:tcPr marL="64008" marR="54864" marT="22860" marB="22860" anchor="ctr">
                    <a:solidFill>
                      <a:srgbClr val="0E315B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ptos"/>
                        </a:rPr>
                        <a:t>ROI</a:t>
                      </a:r>
                    </a:p>
                  </a:txBody>
                  <a:tcPr marL="64008" marR="54864" marT="22860" marB="22860" anchor="ctr">
                    <a:solidFill>
                      <a:srgbClr val="0E315B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2A3646"/>
                          </a:solidFill>
                          <a:latin typeface="Aptos"/>
                        </a:rPr>
                        <a:t>Execution time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A3646"/>
                          </a:solidFill>
                          <a:latin typeface="Aptos"/>
                        </a:rPr>
                        <a:t>Capture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A3646"/>
                          </a:solidFill>
                          <a:latin typeface="Aptos"/>
                        </a:rPr>
                        <a:t>Compare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A3646"/>
                          </a:solidFill>
                          <a:latin typeface="Aptos"/>
                        </a:rPr>
                        <a:t>Trend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2A3646"/>
                          </a:solidFill>
                          <a:latin typeface="Aptos"/>
                        </a:rPr>
                        <a:t>Regression effort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A3646"/>
                          </a:solidFill>
                          <a:latin typeface="Aptos"/>
                        </a:rPr>
                        <a:t>Capture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A3646"/>
                          </a:solidFill>
                          <a:latin typeface="Aptos"/>
                        </a:rPr>
                        <a:t>Compare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A3646"/>
                          </a:solidFill>
                          <a:latin typeface="Aptos"/>
                        </a:rPr>
                        <a:t>% saved</a:t>
                      </a:r>
                    </a:p>
                  </a:txBody>
                  <a:tcPr marL="64008" marR="54864" marT="22860" marB="22860" anchor="ctr">
                    <a:solidFill>
                      <a:srgbClr val="EDF6FA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2A3646"/>
                          </a:solidFill>
                          <a:latin typeface="Aptos"/>
                        </a:rPr>
                        <a:t>Release lead time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A3646"/>
                          </a:solidFill>
                          <a:latin typeface="Aptos"/>
                        </a:rPr>
                        <a:t>Capture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A3646"/>
                          </a:solidFill>
                          <a:latin typeface="Aptos"/>
                        </a:rPr>
                        <a:t>Compare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A3646"/>
                          </a:solidFill>
                          <a:latin typeface="Aptos"/>
                        </a:rPr>
                        <a:t>Trend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DAE4EB"/>
                      </a:solidFill>
                    </a:lnL>
                    <a:lnR w="6350">
                      <a:solidFill>
                        <a:srgbClr val="DAE4EB"/>
                      </a:solidFill>
                    </a:lnR>
                    <a:lnT w="6350">
                      <a:solidFill>
                        <a:srgbClr val="DAE4EB"/>
                      </a:solidFill>
                    </a:lnT>
                    <a:lnB w="6350">
                      <a:solidFill>
                        <a:srgbClr val="DAE4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7680960" y="4315968"/>
            <a:ext cx="4005072" cy="1024128"/>
          </a:xfrm>
          <a:prstGeom prst="roundRect">
            <a:avLst/>
          </a:prstGeom>
          <a:solidFill>
            <a:srgbClr val="EDF6FA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45552" y="4389120"/>
            <a:ext cx="3675887" cy="2286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950" b="1">
                <a:solidFill>
                  <a:srgbClr val="00979D"/>
                </a:solidFill>
                <a:latin typeface="Aptos"/>
              </a:rPr>
              <a:t>FINANCIAL ROI — NEXT STEP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5552" y="4645152"/>
            <a:ext cx="3657600" cy="576072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/>
            <a:r>
              <a:rPr sz="830" b="0">
                <a:solidFill>
                  <a:srgbClr val="2A3646"/>
                </a:solidFill>
                <a:latin typeface="Aptos"/>
              </a:rPr>
              <a:t>Add effort-day cost + implementation cost to calculate ₹ savings, payback and annualized ROI.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236208"/>
            <a:ext cx="10972800" cy="18288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810" b="1">
                <a:solidFill>
                  <a:srgbClr val="C63D43"/>
                </a:solidFill>
                <a:latin typeface="Aptos"/>
              </a:rPr>
              <a:t>Source values are preserved. “Before/After” units in the source are not explicit; confirm whether they represent days, hours or another effort unit.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65392"/>
            <a:ext cx="9601200" cy="14630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800" b="0">
                <a:solidFill>
                  <a:srgbClr val="687788"/>
                </a:solidFill>
                <a:latin typeface="Aptos"/>
              </a:rPr>
              <a:t>Nexus One | Quality Engineering Transformation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201400" y="6583680"/>
            <a:ext cx="438912" cy="50292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43891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2500" b="1">
                <a:solidFill>
                  <a:srgbClr val="0E315B"/>
                </a:solidFill>
                <a:latin typeface="Aptos"/>
              </a:rPr>
              <a:t>How We Prove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22376"/>
            <a:ext cx="1088136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000" b="0">
                <a:solidFill>
                  <a:srgbClr val="687788"/>
                </a:solidFill>
                <a:latin typeface="Aptos"/>
              </a:rPr>
              <a:t>Baseline → AI-assisted run → quality guardrails →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10896"/>
            <a:ext cx="384048" cy="29260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/>
            <a:r>
              <a:rPr sz="1100" b="1">
                <a:solidFill>
                  <a:srgbClr val="00979D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353312"/>
            <a:ext cx="2542032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517904"/>
            <a:ext cx="457200" cy="457200"/>
          </a:xfrm>
          <a:prstGeom prst="roundRect">
            <a:avLst/>
          </a:prstGeom>
          <a:solidFill>
            <a:srgbClr val="14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17904"/>
            <a:ext cx="457200" cy="4572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472184"/>
            <a:ext cx="1627632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100" b="1">
                <a:solidFill>
                  <a:srgbClr val="0E315B"/>
                </a:solidFill>
                <a:latin typeface="Aptos"/>
              </a:rPr>
              <a:t>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773936"/>
            <a:ext cx="1627632" cy="502920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/>
            <a:r>
              <a:rPr sz="880" b="0">
                <a:solidFill>
                  <a:srgbClr val="687788"/>
                </a:solidFill>
                <a:latin typeface="Aptos"/>
              </a:rPr>
              <a:t>Current effort, time, defects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45536" y="1746504"/>
            <a:ext cx="256032" cy="2286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1600" b="1">
                <a:solidFill>
                  <a:srgbClr val="00979D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7288" y="1353312"/>
            <a:ext cx="2542032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93592" y="1517904"/>
            <a:ext cx="457200" cy="457200"/>
          </a:xfrm>
          <a:prstGeom prst="round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2" y="1517904"/>
            <a:ext cx="457200" cy="4572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78808" y="1472184"/>
            <a:ext cx="1627632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100" b="1">
                <a:solidFill>
                  <a:srgbClr val="0E315B"/>
                </a:solidFill>
                <a:latin typeface="Aptos"/>
              </a:rPr>
              <a:t>AI-ASSISTED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8808" y="1773936"/>
            <a:ext cx="1627632" cy="502920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/>
            <a:r>
              <a:rPr sz="880" b="0">
                <a:solidFill>
                  <a:srgbClr val="687788"/>
                </a:solidFill>
                <a:latin typeface="Aptos"/>
              </a:rPr>
              <a:t>Automate selected test tasks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25896" y="1746504"/>
            <a:ext cx="256032" cy="2286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1600" b="1">
                <a:solidFill>
                  <a:srgbClr val="00979D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7648" y="1353312"/>
            <a:ext cx="2542032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73952" y="1517904"/>
            <a:ext cx="457200" cy="457200"/>
          </a:xfrm>
          <a:prstGeom prst="roundRect">
            <a:avLst/>
          </a:prstGeom>
          <a:solidFill>
            <a:srgbClr val="E79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1517904"/>
            <a:ext cx="457200" cy="4572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1472184"/>
            <a:ext cx="1627632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100" b="1">
                <a:solidFill>
                  <a:srgbClr val="0E315B"/>
                </a:solidFill>
                <a:latin typeface="Aptos"/>
              </a:rPr>
              <a:t>VALIDATE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1773936"/>
            <a:ext cx="1627632" cy="502920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/>
            <a:r>
              <a:rPr sz="880" b="0">
                <a:solidFill>
                  <a:srgbClr val="687788"/>
                </a:solidFill>
                <a:latin typeface="Aptos"/>
              </a:rPr>
              <a:t>Compare same scope &amp; quality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06256" y="1746504"/>
            <a:ext cx="256032" cy="2286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1600" b="1">
                <a:solidFill>
                  <a:srgbClr val="00979D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08007" y="1353312"/>
            <a:ext cx="2542032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354311" y="1517904"/>
            <a:ext cx="457200" cy="457200"/>
          </a:xfrm>
          <a:prstGeom prst="roundRect">
            <a:avLst/>
          </a:prstGeom>
          <a:solidFill>
            <a:srgbClr val="269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54311" y="1517904"/>
            <a:ext cx="457200" cy="4572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39528" y="1472184"/>
            <a:ext cx="1627632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100" b="1">
                <a:solidFill>
                  <a:srgbClr val="0E315B"/>
                </a:solidFill>
                <a:latin typeface="Aptos"/>
              </a:rPr>
              <a:t>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39528" y="1773936"/>
            <a:ext cx="1627632" cy="502920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/>
            <a:r>
              <a:rPr sz="880" b="0">
                <a:solidFill>
                  <a:srgbClr val="687788"/>
                </a:solidFill>
                <a:latin typeface="Aptos"/>
              </a:rPr>
              <a:t>Release gates &amp; monthly ROI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2907792"/>
            <a:ext cx="5321808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3127248"/>
            <a:ext cx="4754880" cy="2743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200" b="1">
                <a:solidFill>
                  <a:srgbClr val="00979D"/>
                </a:solidFill>
                <a:latin typeface="Aptos"/>
              </a:rPr>
              <a:t>EFFORT SAVING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3547872"/>
            <a:ext cx="4736592" cy="56692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200" b="1">
                <a:solidFill>
                  <a:srgbClr val="0E315B"/>
                </a:solidFill>
                <a:latin typeface="Aptos"/>
              </a:rPr>
              <a:t>(Baseline effort − AI-assisted effort) ÷ Baseline effort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4187952"/>
            <a:ext cx="4709160" cy="411480"/>
          </a:xfrm>
          <a:prstGeom prst="rect">
            <a:avLst/>
          </a:prstGeom>
          <a:noFill/>
        </p:spPr>
        <p:txBody>
          <a:bodyPr wrap="square" lIns="36576" rIns="36576" tIns="13716" bIns="13716" anchor="t">
            <a:spAutoFit/>
          </a:bodyPr>
          <a:lstStyle/>
          <a:p>
            <a:pPr algn="l"/>
            <a:r>
              <a:rPr sz="900" b="0">
                <a:solidFill>
                  <a:srgbClr val="687788"/>
                </a:solidFill>
                <a:latin typeface="Aptos"/>
              </a:rPr>
              <a:t>Report effort-days and minutes separately. Financial ROI also needs implementation cost and cost per day.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44768" y="2907792"/>
            <a:ext cx="5486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088" y="3127248"/>
            <a:ext cx="4937760" cy="2743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200" b="1">
                <a:solidFill>
                  <a:srgbClr val="1465A8"/>
                </a:solidFill>
                <a:latin typeface="Aptos"/>
              </a:rPr>
              <a:t>QUALITY GUARDRAILS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3511296"/>
            <a:ext cx="228600" cy="2286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1100" b="1">
                <a:solidFill>
                  <a:srgbClr val="269768"/>
                </a:solidFill>
                <a:latin typeface="Aptos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39128" y="3511296"/>
            <a:ext cx="4434840" cy="2286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930" b="0">
                <a:solidFill>
                  <a:srgbClr val="2A3646"/>
                </a:solidFill>
                <a:latin typeface="Aptos"/>
              </a:rPr>
              <a:t>No increase in escaped defects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822191"/>
            <a:ext cx="228600" cy="2286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1100" b="1">
                <a:solidFill>
                  <a:srgbClr val="269768"/>
                </a:solidFill>
                <a:latin typeface="Aptos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39128" y="3822191"/>
            <a:ext cx="4434840" cy="2286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930" b="0">
                <a:solidFill>
                  <a:srgbClr val="2A3646"/>
                </a:solidFill>
                <a:latin typeface="Aptos"/>
              </a:rPr>
              <a:t>Coverage and audit evidence maintained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4133087"/>
            <a:ext cx="228600" cy="2286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1100" b="1">
                <a:solidFill>
                  <a:srgbClr val="269768"/>
                </a:solidFill>
                <a:latin typeface="Aptos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39128" y="4133087"/>
            <a:ext cx="4434840" cy="2286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930" b="0">
                <a:solidFill>
                  <a:srgbClr val="2A3646"/>
                </a:solidFill>
                <a:latin typeface="Aptos"/>
              </a:rPr>
              <a:t>False positives and flaky tests tracked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443983"/>
            <a:ext cx="228600" cy="2286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1100" b="1">
                <a:solidFill>
                  <a:srgbClr val="269768"/>
                </a:solidFill>
                <a:latin typeface="Aptos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39128" y="4443983"/>
            <a:ext cx="4434840" cy="2286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930" b="0">
                <a:solidFill>
                  <a:srgbClr val="2A3646"/>
                </a:solidFill>
                <a:latin typeface="Aptos"/>
              </a:rPr>
              <a:t>Savings verified on comparable releases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5285232"/>
            <a:ext cx="11064240" cy="621792"/>
          </a:xfrm>
          <a:prstGeom prst="roundRect">
            <a:avLst/>
          </a:prstGeom>
          <a:solidFill>
            <a:srgbClr val="EDF6FA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5394960"/>
            <a:ext cx="10561320" cy="34747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100" b="1">
                <a:solidFill>
                  <a:srgbClr val="0E315B"/>
                </a:solidFill>
                <a:latin typeface="Aptos"/>
              </a:rPr>
              <a:t>MANAGEMENT ASK  |  Approve phased rollout, named owners, baseline capture and monthly ROI review.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565392"/>
            <a:ext cx="9601200" cy="14630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800" b="0">
                <a:solidFill>
                  <a:srgbClr val="687788"/>
                </a:solidFill>
                <a:latin typeface="Aptos"/>
              </a:rPr>
              <a:t>Nexus One | Quality Engineering Transformation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201400" y="6583680"/>
            <a:ext cx="438912" cy="50292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