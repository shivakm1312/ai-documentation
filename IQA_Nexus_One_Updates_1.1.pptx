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8"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753" y="7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5E81344A-5F6D-4ABE-B5E2-18E4440AA3CB}" type="datetimeFigureOut">
              <a:t>10/20/2026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FAFEC9A4-AB97-423C-A6DF-22E4C78BD6AC}" type="slidenum">
              <a:t>‹#›</a:t>
            </a:fld>
            <a:endParaRPr lang="en-US"/>
          </a:p>
        </p:txBody>
      </p:sp>
    </p:spTree>
    <p:extLst>
      <p:ext uri="{BB962C8B-B14F-4D97-AF65-F5344CB8AC3E}">
        <p14:creationId xmlns:p14="http://schemas.microsoft.com/office/powerpoint/2010/main" val="2046003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048" y="45720"/>
            <a:ext cx="11792712" cy="548640"/>
          </a:xfrm>
          <a:prstGeom prst="rect">
            <a:avLst/>
          </a:prstGeom>
          <a:solidFill>
            <a:srgbClr val="0F4C81"/>
          </a:solidFill>
          <a:ln w="12700">
            <a:solidFill>
              <a:srgbClr val="0F4C81"/>
            </a:solidFill>
            <a:prstDash val="solid"/>
          </a:ln>
        </p:spPr>
        <p:txBody>
          <a:bodyPr/>
          <a:lstStyle/>
          <a:p>
            <a:endParaRPr lang="en-IN"/>
          </a:p>
        </p:txBody>
      </p:sp>
      <p:sp>
        <p:nvSpPr>
          <p:cNvPr id="3" name="Text 1"/>
          <p:cNvSpPr/>
          <p:nvPr/>
        </p:nvSpPr>
        <p:spPr>
          <a:xfrm>
            <a:off x="274320" y="109728"/>
            <a:ext cx="8229600" cy="274320"/>
          </a:xfrm>
          <a:prstGeom prst="rect">
            <a:avLst/>
          </a:prstGeom>
          <a:noFill/>
          <a:ln/>
        </p:spPr>
        <p:txBody>
          <a:bodyPr wrap="square" rtlCol="0" anchor="ctr"/>
          <a:lstStyle/>
          <a:p>
            <a:pPr marL="0" indent="0">
              <a:buNone/>
            </a:pPr>
            <a:r>
              <a:rPr lang="en-US" sz="2200" b="1" dirty="0">
                <a:solidFill>
                  <a:srgbClr val="FFFFFF"/>
                </a:solidFill>
              </a:rPr>
              <a:t>Nexus One-Driven Testing Transformation &amp; Effort Reduction</a:t>
            </a:r>
            <a:endParaRPr lang="en-US" sz="2200" dirty="0"/>
          </a:p>
        </p:txBody>
      </p:sp>
      <p:sp>
        <p:nvSpPr>
          <p:cNvPr id="4" name="Text 2"/>
          <p:cNvSpPr/>
          <p:nvPr/>
        </p:nvSpPr>
        <p:spPr>
          <a:xfrm>
            <a:off x="274320" y="685800"/>
            <a:ext cx="7772400" cy="274320"/>
          </a:xfrm>
          <a:prstGeom prst="rect">
            <a:avLst/>
          </a:prstGeom>
          <a:noFill/>
          <a:ln/>
        </p:spPr>
        <p:txBody>
          <a:bodyPr wrap="square" rtlCol="0" anchor="ctr"/>
          <a:lstStyle/>
          <a:p>
            <a:pPr marL="0" indent="0">
              <a:buNone/>
            </a:pPr>
            <a:r>
              <a:rPr lang="en-US" sz="1100" b="1" dirty="0">
                <a:solidFill>
                  <a:srgbClr val="0F4C81"/>
                </a:solidFill>
              </a:rPr>
              <a:t>Executive Objective: Reduce Manual Testing Effort by Leveraging Nexus One Across Strategic Products</a:t>
            </a:r>
            <a:endParaRPr lang="en-US" sz="1100" dirty="0"/>
          </a:p>
        </p:txBody>
      </p:sp>
      <p:sp>
        <p:nvSpPr>
          <p:cNvPr id="5" name="Text 3"/>
          <p:cNvSpPr/>
          <p:nvPr/>
        </p:nvSpPr>
        <p:spPr>
          <a:xfrm>
            <a:off x="10271760" y="777240"/>
            <a:ext cx="1645920" cy="640080"/>
          </a:xfrm>
          <a:prstGeom prst="rect">
            <a:avLst/>
          </a:prstGeom>
          <a:solidFill>
            <a:srgbClr val="00A65A"/>
          </a:solidFill>
          <a:ln/>
        </p:spPr>
        <p:txBody>
          <a:bodyPr wrap="square" rtlCol="0" anchor="ctr"/>
          <a:lstStyle/>
          <a:p>
            <a:pPr marL="0" indent="0" algn="ctr">
              <a:buNone/>
            </a:pPr>
            <a:r>
              <a:rPr lang="en-US" sz="1600" b="1" dirty="0">
                <a:solidFill>
                  <a:srgbClr val="FFFFFF"/>
                </a:solidFill>
              </a:rPr>
              <a:t>Target ROI</a:t>
            </a:r>
            <a:endParaRPr lang="en-US" sz="1600" dirty="0"/>
          </a:p>
          <a:p>
            <a:pPr marL="0" indent="0" algn="ctr">
              <a:buNone/>
            </a:pPr>
            <a:r>
              <a:rPr lang="en-US" sz="1600" b="1" dirty="0">
                <a:solidFill>
                  <a:srgbClr val="FFFFFF"/>
                </a:solidFill>
              </a:rPr>
              <a:t>Up to 50%</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2660882507"/>
              </p:ext>
            </p:extLst>
          </p:nvPr>
        </p:nvGraphicFramePr>
        <p:xfrm>
          <a:off x="182880" y="1097280"/>
          <a:ext cx="4846320" cy="1082040"/>
        </p:xfrm>
        <a:graphic>
          <a:graphicData uri="http://schemas.openxmlformats.org/drawingml/2006/table">
            <a:tbl>
              <a:tblPr/>
              <a:tblGrid>
                <a:gridCol w="1636192">
                  <a:extLst>
                    <a:ext uri="{9D8B030D-6E8A-4147-A177-3AD203B41FA5}">
                      <a16:colId xmlns:a16="http://schemas.microsoft.com/office/drawing/2014/main" val="20000"/>
                    </a:ext>
                  </a:extLst>
                </a:gridCol>
                <a:gridCol w="1157592">
                  <a:extLst>
                    <a:ext uri="{9D8B030D-6E8A-4147-A177-3AD203B41FA5}">
                      <a16:colId xmlns:a16="http://schemas.microsoft.com/office/drawing/2014/main" val="20001"/>
                    </a:ext>
                  </a:extLst>
                </a:gridCol>
                <a:gridCol w="972766">
                  <a:extLst>
                    <a:ext uri="{9D8B030D-6E8A-4147-A177-3AD203B41FA5}">
                      <a16:colId xmlns:a16="http://schemas.microsoft.com/office/drawing/2014/main" val="20002"/>
                    </a:ext>
                  </a:extLst>
                </a:gridCol>
                <a:gridCol w="1079770">
                  <a:extLst>
                    <a:ext uri="{9D8B030D-6E8A-4147-A177-3AD203B41FA5}">
                      <a16:colId xmlns:a16="http://schemas.microsoft.com/office/drawing/2014/main" val="20003"/>
                    </a:ext>
                  </a:extLst>
                </a:gridCol>
              </a:tblGrid>
              <a:tr h="0">
                <a:tc>
                  <a:txBody>
                    <a:bodyPr/>
                    <a:lstStyle/>
                    <a:p>
                      <a:pPr marL="0" indent="0">
                        <a:buNone/>
                      </a:pPr>
                      <a:r>
                        <a:rPr lang="en-US" sz="1100" b="1" kern="1200" dirty="0">
                          <a:solidFill>
                            <a:srgbClr val="0F4C81"/>
                          </a:solidFill>
                          <a:latin typeface="+mn-lt"/>
                          <a:ea typeface="+mn-ea"/>
                          <a:cs typeface="+mn-cs"/>
                        </a:rPr>
                        <a:t>WBS Activity</a:t>
                      </a:r>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solidFill>
                      <a:schemeClr val="accent3">
                        <a:lumMod val="20000"/>
                        <a:lumOff val="80000"/>
                      </a:schemeClr>
                    </a:solidFill>
                  </a:tcPr>
                </a:tc>
                <a:tc>
                  <a:txBody>
                    <a:bodyPr/>
                    <a:lstStyle/>
                    <a:p>
                      <a:pPr marL="0" indent="0">
                        <a:buNone/>
                      </a:pPr>
                      <a:r>
                        <a:rPr lang="en-US" sz="1100" b="1" kern="1200" dirty="0">
                          <a:solidFill>
                            <a:srgbClr val="0F4C81"/>
                          </a:solidFill>
                          <a:latin typeface="+mn-lt"/>
                          <a:ea typeface="+mn-ea"/>
                          <a:cs typeface="+mn-cs"/>
                        </a:rPr>
                        <a:t>Before AI</a:t>
                      </a:r>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solidFill>
                      <a:schemeClr val="accent3">
                        <a:lumMod val="20000"/>
                        <a:lumOff val="80000"/>
                      </a:schemeClr>
                    </a:solidFill>
                  </a:tcPr>
                </a:tc>
                <a:tc>
                  <a:txBody>
                    <a:bodyPr/>
                    <a:lstStyle/>
                    <a:p>
                      <a:pPr marL="0" indent="0">
                        <a:buNone/>
                      </a:pPr>
                      <a:r>
                        <a:rPr lang="en-US" sz="1100" b="1" kern="1200" dirty="0">
                          <a:solidFill>
                            <a:srgbClr val="0F4C81"/>
                          </a:solidFill>
                          <a:latin typeface="+mn-lt"/>
                          <a:ea typeface="+mn-ea"/>
                          <a:cs typeface="+mn-cs"/>
                        </a:rPr>
                        <a:t>After AI</a:t>
                      </a:r>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solidFill>
                      <a:schemeClr val="accent3">
                        <a:lumMod val="20000"/>
                        <a:lumOff val="80000"/>
                      </a:schemeClr>
                    </a:solidFill>
                  </a:tcPr>
                </a:tc>
                <a:tc>
                  <a:txBody>
                    <a:bodyPr/>
                    <a:lstStyle/>
                    <a:p>
                      <a:pPr marL="0" indent="0">
                        <a:buNone/>
                      </a:pPr>
                      <a:r>
                        <a:rPr lang="en-US" sz="1100" b="1" kern="1200" dirty="0">
                          <a:solidFill>
                            <a:srgbClr val="0F4C81"/>
                          </a:solidFill>
                          <a:latin typeface="+mn-lt"/>
                          <a:ea typeface="+mn-ea"/>
                          <a:cs typeface="+mn-cs"/>
                        </a:rPr>
                        <a:t>ROI Saving</a:t>
                      </a:r>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000000"/>
                          </a:solidFill>
                        </a:rPr>
                        <a:t>Test Case Execution</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rPr>
                        <a:t>10.7</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rPr>
                        <a:t>4.3</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rPr>
                        <a:t>40.2%</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000000"/>
                          </a:solidFill>
                        </a:rPr>
                        <a:t>Defect Re-Testing</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rPr>
                        <a:t>17.8</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rPr>
                        <a:t>7.2</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rPr>
                        <a:t>40.4%</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000000"/>
                          </a:solidFill>
                        </a:rPr>
                        <a:t>Regression Testing</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rPr>
                        <a:t>11.9</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rPr>
                        <a:t>4.8</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rPr>
                        <a:t>40.3%</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4"/>
          <p:cNvSpPr/>
          <p:nvPr/>
        </p:nvSpPr>
        <p:spPr>
          <a:xfrm>
            <a:off x="5303520" y="1005840"/>
            <a:ext cx="2560320" cy="320040"/>
          </a:xfrm>
          <a:prstGeom prst="rect">
            <a:avLst/>
          </a:prstGeom>
          <a:noFill/>
          <a:ln/>
        </p:spPr>
        <p:txBody>
          <a:bodyPr wrap="square" rtlCol="0" anchor="ctr"/>
          <a:lstStyle/>
          <a:p>
            <a:pPr marL="0" indent="0">
              <a:buNone/>
            </a:pPr>
            <a:r>
              <a:rPr lang="en-US" sz="1600" b="1" dirty="0">
                <a:solidFill>
                  <a:srgbClr val="0F4C81"/>
                </a:solidFill>
              </a:rPr>
              <a:t>Key AI Enablement Areas</a:t>
            </a:r>
            <a:endParaRPr lang="en-US" sz="1600" dirty="0"/>
          </a:p>
        </p:txBody>
      </p:sp>
      <p:sp>
        <p:nvSpPr>
          <p:cNvPr id="8" name="Text 5"/>
          <p:cNvSpPr/>
          <p:nvPr/>
        </p:nvSpPr>
        <p:spPr>
          <a:xfrm>
            <a:off x="5303520" y="1287780"/>
            <a:ext cx="2834640" cy="1280160"/>
          </a:xfrm>
          <a:prstGeom prst="rect">
            <a:avLst/>
          </a:prstGeom>
          <a:noFill/>
          <a:ln/>
        </p:spPr>
        <p:txBody>
          <a:bodyPr wrap="square" rtlCol="0" anchor="ctr"/>
          <a:lstStyle/>
          <a:p>
            <a:endParaRPr lang="en-US" sz="1100" dirty="0"/>
          </a:p>
          <a:p>
            <a:r>
              <a:rPr lang="en-IN" sz="1100" dirty="0">
                <a:latin typeface="Calibri" panose="020F0502020204030204" pitchFamily="34" charset="0"/>
                <a:ea typeface="Calibri" panose="020F0502020204030204" pitchFamily="34" charset="0"/>
                <a:cs typeface="Calibri" panose="020F0502020204030204" pitchFamily="34" charset="0"/>
              </a:rPr>
              <a:t>✅ AI Assisted Test Execution</a:t>
            </a:r>
            <a:br>
              <a:rPr lang="en-IN" sz="1100" dirty="0">
                <a:latin typeface="Calibri" panose="020F0502020204030204" pitchFamily="34" charset="0"/>
                <a:ea typeface="Calibri" panose="020F0502020204030204" pitchFamily="34" charset="0"/>
                <a:cs typeface="Calibri" panose="020F0502020204030204" pitchFamily="34" charset="0"/>
              </a:rPr>
            </a:br>
            <a:r>
              <a:rPr lang="en-IN" sz="1100" dirty="0">
                <a:latin typeface="Calibri" panose="020F0502020204030204" pitchFamily="34" charset="0"/>
                <a:ea typeface="Calibri" panose="020F0502020204030204" pitchFamily="34" charset="0"/>
                <a:cs typeface="Calibri" panose="020F0502020204030204" pitchFamily="34" charset="0"/>
              </a:rPr>
              <a:t>✅ Automated Test Data Generation</a:t>
            </a:r>
            <a:br>
              <a:rPr lang="en-IN" sz="1100" dirty="0">
                <a:latin typeface="Calibri" panose="020F0502020204030204" pitchFamily="34" charset="0"/>
                <a:ea typeface="Calibri" panose="020F0502020204030204" pitchFamily="34" charset="0"/>
                <a:cs typeface="Calibri" panose="020F0502020204030204" pitchFamily="34" charset="0"/>
              </a:rPr>
            </a:br>
            <a:r>
              <a:rPr lang="en-IN" sz="1100" dirty="0">
                <a:latin typeface="Calibri" panose="020F0502020204030204" pitchFamily="34" charset="0"/>
                <a:ea typeface="Calibri" panose="020F0502020204030204" pitchFamily="34" charset="0"/>
                <a:cs typeface="Calibri" panose="020F0502020204030204" pitchFamily="34" charset="0"/>
              </a:rPr>
              <a:t>✅ Intelligent Evidence Capture</a:t>
            </a:r>
            <a:br>
              <a:rPr lang="en-IN" sz="1100" dirty="0">
                <a:latin typeface="Calibri" panose="020F0502020204030204" pitchFamily="34" charset="0"/>
                <a:ea typeface="Calibri" panose="020F0502020204030204" pitchFamily="34" charset="0"/>
                <a:cs typeface="Calibri" panose="020F0502020204030204" pitchFamily="34" charset="0"/>
              </a:rPr>
            </a:br>
            <a:r>
              <a:rPr lang="en-IN" sz="1100" dirty="0">
                <a:latin typeface="Calibri" panose="020F0502020204030204" pitchFamily="34" charset="0"/>
                <a:ea typeface="Calibri" panose="020F0502020204030204" pitchFamily="34" charset="0"/>
                <a:cs typeface="Calibri" panose="020F0502020204030204" pitchFamily="34" charset="0"/>
              </a:rPr>
              <a:t>✅ AI-Driven Defect Validation</a:t>
            </a:r>
            <a:br>
              <a:rPr lang="en-IN" sz="1100" dirty="0">
                <a:latin typeface="Calibri" panose="020F0502020204030204" pitchFamily="34" charset="0"/>
                <a:ea typeface="Calibri" panose="020F0502020204030204" pitchFamily="34" charset="0"/>
                <a:cs typeface="Calibri" panose="020F0502020204030204" pitchFamily="34" charset="0"/>
              </a:rPr>
            </a:br>
            <a:r>
              <a:rPr lang="en-IN" sz="1100" dirty="0">
                <a:latin typeface="Calibri" panose="020F0502020204030204" pitchFamily="34" charset="0"/>
                <a:ea typeface="Calibri" panose="020F0502020204030204" pitchFamily="34" charset="0"/>
                <a:cs typeface="Calibri" panose="020F0502020204030204" pitchFamily="34" charset="0"/>
              </a:rPr>
              <a:t>✅ Regression Test Optimization</a:t>
            </a:r>
            <a:br>
              <a:rPr lang="en-IN" sz="1100" dirty="0">
                <a:latin typeface="Calibri" panose="020F0502020204030204" pitchFamily="34" charset="0"/>
                <a:ea typeface="Calibri" panose="020F0502020204030204" pitchFamily="34" charset="0"/>
                <a:cs typeface="Calibri" panose="020F0502020204030204" pitchFamily="34" charset="0"/>
              </a:rPr>
            </a:br>
            <a:r>
              <a:rPr lang="en-IN" sz="1100" dirty="0">
                <a:latin typeface="Calibri" panose="020F0502020204030204" pitchFamily="34" charset="0"/>
                <a:ea typeface="Calibri" panose="020F0502020204030204" pitchFamily="34" charset="0"/>
                <a:cs typeface="Calibri" panose="020F0502020204030204" pitchFamily="34" charset="0"/>
              </a:rPr>
              <a:t>✅ Impact Analysis Automation</a:t>
            </a:r>
          </a:p>
          <a:p>
            <a:pPr marL="171450" indent="-171450">
              <a:buFont typeface="Wingdings" panose="05000000000000000000" pitchFamily="2" charset="2"/>
              <a:buChar char="Ø"/>
            </a:pPr>
            <a:endParaRPr lang="en-US" sz="1100" dirty="0"/>
          </a:p>
        </p:txBody>
      </p:sp>
      <p:sp>
        <p:nvSpPr>
          <p:cNvPr id="9" name="Text 6"/>
          <p:cNvSpPr/>
          <p:nvPr/>
        </p:nvSpPr>
        <p:spPr>
          <a:xfrm>
            <a:off x="8107680" y="1015487"/>
            <a:ext cx="1828800" cy="274320"/>
          </a:xfrm>
          <a:prstGeom prst="rect">
            <a:avLst/>
          </a:prstGeom>
          <a:noFill/>
          <a:ln/>
        </p:spPr>
        <p:txBody>
          <a:bodyPr wrap="square" rtlCol="0" anchor="ctr"/>
          <a:lstStyle/>
          <a:p>
            <a:pPr marL="0" indent="0">
              <a:buNone/>
            </a:pPr>
            <a:r>
              <a:rPr lang="en-US" sz="1600" b="1" dirty="0">
                <a:solidFill>
                  <a:srgbClr val="0F4C81"/>
                </a:solidFill>
              </a:rPr>
              <a:t>Current Status</a:t>
            </a:r>
            <a:endParaRPr lang="en-US" sz="1600" dirty="0"/>
          </a:p>
        </p:txBody>
      </p:sp>
      <p:sp>
        <p:nvSpPr>
          <p:cNvPr id="10" name="Text 7"/>
          <p:cNvSpPr/>
          <p:nvPr/>
        </p:nvSpPr>
        <p:spPr>
          <a:xfrm>
            <a:off x="8122920" y="1293617"/>
            <a:ext cx="2133600" cy="1188720"/>
          </a:xfrm>
          <a:prstGeom prst="rect">
            <a:avLst/>
          </a:prstGeom>
          <a:noFill/>
          <a:ln/>
        </p:spPr>
        <p:txBody>
          <a:bodyPr wrap="square" rtlCol="0" anchor="ctr"/>
          <a:lstStyle/>
          <a:p>
            <a:r>
              <a:rPr lang="en-US" sz="1100" dirty="0">
                <a:solidFill>
                  <a:srgbClr val="000000"/>
                </a:solidFill>
              </a:rPr>
              <a:t>🟢 Use Cases Identified</a:t>
            </a:r>
            <a:endParaRPr lang="en-US" sz="1100" dirty="0"/>
          </a:p>
          <a:p>
            <a:r>
              <a:rPr lang="en-US" sz="1100" dirty="0">
                <a:solidFill>
                  <a:srgbClr val="000000"/>
                </a:solidFill>
              </a:rPr>
              <a:t>🟢 ROI Baseline Established</a:t>
            </a:r>
            <a:endParaRPr lang="en-US" sz="1100" dirty="0"/>
          </a:p>
          <a:p>
            <a:r>
              <a:rPr lang="en-US" sz="1100" dirty="0">
                <a:solidFill>
                  <a:srgbClr val="000000"/>
                </a:solidFill>
              </a:rPr>
              <a:t>🟢 Pilot Execution Initiated</a:t>
            </a:r>
            <a:endParaRPr lang="en-US" sz="1100" dirty="0"/>
          </a:p>
          <a:p>
            <a:r>
              <a:rPr lang="en-US" sz="1100" dirty="0">
                <a:solidFill>
                  <a:srgbClr val="000000"/>
                </a:solidFill>
              </a:rPr>
              <a:t>🟡 Scale-Up Planning in Progress</a:t>
            </a:r>
            <a:endParaRPr lang="en-US" sz="1100" dirty="0"/>
          </a:p>
          <a:p>
            <a:pPr marL="171450" indent="-171450">
              <a:buFont typeface="Wingdings" panose="05000000000000000000" pitchFamily="2" charset="2"/>
              <a:buChar char="Ø"/>
            </a:pPr>
            <a:endParaRPr lang="en-US" sz="1100" dirty="0"/>
          </a:p>
        </p:txBody>
      </p:sp>
      <p:graphicFrame>
        <p:nvGraphicFramePr>
          <p:cNvPr id="13" name="Table 3"/>
          <p:cNvGraphicFramePr>
            <a:graphicFrameLocks noGrp="1"/>
          </p:cNvGraphicFramePr>
          <p:nvPr>
            <p:extLst>
              <p:ext uri="{D42A27DB-BD31-4B8C-83A1-F6EECF244321}">
                <p14:modId xmlns:p14="http://schemas.microsoft.com/office/powerpoint/2010/main" val="3947154839"/>
              </p:ext>
            </p:extLst>
          </p:nvPr>
        </p:nvGraphicFramePr>
        <p:xfrm>
          <a:off x="71985" y="4815191"/>
          <a:ext cx="4957215" cy="1905000"/>
        </p:xfrm>
        <a:graphic>
          <a:graphicData uri="http://schemas.openxmlformats.org/drawingml/2006/table">
            <a:tbl>
              <a:tblPr/>
              <a:tblGrid>
                <a:gridCol w="2680943">
                  <a:extLst>
                    <a:ext uri="{9D8B030D-6E8A-4147-A177-3AD203B41FA5}">
                      <a16:colId xmlns:a16="http://schemas.microsoft.com/office/drawing/2014/main" val="20000"/>
                    </a:ext>
                  </a:extLst>
                </a:gridCol>
                <a:gridCol w="2276272">
                  <a:extLst>
                    <a:ext uri="{9D8B030D-6E8A-4147-A177-3AD203B41FA5}">
                      <a16:colId xmlns:a16="http://schemas.microsoft.com/office/drawing/2014/main" val="20001"/>
                    </a:ext>
                  </a:extLst>
                </a:gridCol>
              </a:tblGrid>
              <a:tr h="162635">
                <a:tc>
                  <a:txBody>
                    <a:bodyPr/>
                    <a:lstStyle/>
                    <a:p>
                      <a:pPr marL="0" indent="0" algn="l" defTabSz="914400" rtl="0" eaLnBrk="1" latinLnBrk="0" hangingPunct="1">
                        <a:buNone/>
                      </a:pPr>
                      <a:r>
                        <a:rPr lang="en-US" sz="1100" b="1" kern="1200" dirty="0">
                          <a:solidFill>
                            <a:srgbClr val="0F4C81"/>
                          </a:solidFill>
                          <a:latin typeface="+mn-lt"/>
                          <a:ea typeface="+mn-ea"/>
                          <a:cs typeface="+mn-cs"/>
                        </a:rPr>
                        <a:t>KPI</a:t>
                      </a:r>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solidFill>
                      <a:schemeClr val="accent3">
                        <a:lumMod val="20000"/>
                        <a:lumOff val="80000"/>
                      </a:schemeClr>
                    </a:solidFill>
                  </a:tcPr>
                </a:tc>
                <a:tc>
                  <a:txBody>
                    <a:bodyPr/>
                    <a:lstStyle/>
                    <a:p>
                      <a:pPr marL="0" indent="0" algn="l" defTabSz="914400" rtl="0" eaLnBrk="1" latinLnBrk="0" hangingPunct="1">
                        <a:buNone/>
                      </a:pPr>
                      <a:r>
                        <a:rPr lang="en-US" sz="1100" b="1" kern="1200" dirty="0">
                          <a:solidFill>
                            <a:srgbClr val="0F4C81"/>
                          </a:solidFill>
                          <a:latin typeface="+mn-lt"/>
                          <a:ea typeface="+mn-ea"/>
                          <a:cs typeface="+mn-cs"/>
                        </a:rPr>
                        <a:t>Expected Improvement</a:t>
                      </a:r>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000000"/>
                          </a:solidFill>
                        </a:rPr>
                        <a:t>Tester Productivity</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tcPr>
                </a:tc>
                <a:tc>
                  <a:txBody>
                    <a:bodyPr/>
                    <a:lstStyle/>
                    <a:p>
                      <a:pPr marL="0" indent="0">
                        <a:buNone/>
                      </a:pPr>
                      <a:r>
                        <a:rPr lang="en-US" sz="1200" dirty="0">
                          <a:solidFill>
                            <a:srgbClr val="000000"/>
                          </a:solidFill>
                        </a:rPr>
                        <a:t>+50%</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200" dirty="0">
                          <a:solidFill>
                            <a:srgbClr val="000000"/>
                          </a:solidFill>
                        </a:rPr>
                        <a:t>Regression Effort</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tcPr>
                </a:tc>
                <a:tc>
                  <a:txBody>
                    <a:bodyPr/>
                    <a:lstStyle/>
                    <a:p>
                      <a:pPr marL="0" indent="0">
                        <a:buNone/>
                      </a:pPr>
                      <a:r>
                        <a:rPr lang="en-US" sz="1200" dirty="0">
                          <a:solidFill>
                            <a:srgbClr val="000000"/>
                          </a:solidFill>
                        </a:rPr>
                        <a:t>-50%</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200" dirty="0">
                          <a:solidFill>
                            <a:srgbClr val="000000"/>
                          </a:solidFill>
                        </a:rPr>
                        <a:t>Test Data Preparation</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tcPr>
                </a:tc>
                <a:tc>
                  <a:txBody>
                    <a:bodyPr/>
                    <a:lstStyle/>
                    <a:p>
                      <a:pPr marL="0" indent="0">
                        <a:buNone/>
                      </a:pPr>
                      <a:r>
                        <a:rPr lang="en-US" sz="1200" dirty="0">
                          <a:solidFill>
                            <a:srgbClr val="000000"/>
                          </a:solidFill>
                        </a:rPr>
                        <a:t>-60%</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200" dirty="0">
                          <a:solidFill>
                            <a:srgbClr val="000000"/>
                          </a:solidFill>
                        </a:rPr>
                        <a:t>Defect Re-Testing Effort</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tcPr>
                </a:tc>
                <a:tc>
                  <a:txBody>
                    <a:bodyPr/>
                    <a:lstStyle/>
                    <a:p>
                      <a:pPr marL="0" indent="0">
                        <a:buNone/>
                      </a:pPr>
                      <a:r>
                        <a:rPr lang="en-US" sz="1200" dirty="0">
                          <a:solidFill>
                            <a:srgbClr val="000000"/>
                          </a:solidFill>
                        </a:rPr>
                        <a:t>-50%</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200" dirty="0">
                          <a:solidFill>
                            <a:srgbClr val="000000"/>
                          </a:solidFill>
                        </a:rPr>
                        <a:t>Release Cycle Time</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tcPr>
                </a:tc>
                <a:tc>
                  <a:txBody>
                    <a:bodyPr/>
                    <a:lstStyle/>
                    <a:p>
                      <a:pPr marL="0" indent="0">
                        <a:buNone/>
                      </a:pPr>
                      <a:r>
                        <a:rPr lang="en-US" sz="1200" dirty="0">
                          <a:solidFill>
                            <a:srgbClr val="000000"/>
                          </a:solidFill>
                        </a:rPr>
                        <a:t>-30%</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200" dirty="0">
                          <a:solidFill>
                            <a:srgbClr val="000000"/>
                          </a:solidFill>
                        </a:rPr>
                        <a:t>Test Coverage</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tcPr>
                </a:tc>
                <a:tc>
                  <a:txBody>
                    <a:bodyPr/>
                    <a:lstStyle/>
                    <a:p>
                      <a:pPr marL="0" indent="0">
                        <a:buNone/>
                      </a:pPr>
                      <a:r>
                        <a:rPr lang="en-US" sz="1200" dirty="0">
                          <a:solidFill>
                            <a:srgbClr val="000000"/>
                          </a:solidFill>
                        </a:rPr>
                        <a:t>Increased</a:t>
                      </a:r>
                      <a:endParaRPr lang="en-US" sz="1200" dirty="0"/>
                    </a:p>
                  </a:txBody>
                  <a:tcPr>
                    <a:lnL w="15240" cap="flat" cmpd="sng" algn="ctr">
                      <a:solidFill>
                        <a:srgbClr val="0F4C81"/>
                      </a:solidFill>
                      <a:prstDash val="solid"/>
                      <a:round/>
                      <a:headEnd type="none" w="med" len="med"/>
                      <a:tailEnd type="none" w="med" len="med"/>
                    </a:lnL>
                    <a:lnR w="15240" cap="flat" cmpd="sng" algn="ctr">
                      <a:solidFill>
                        <a:srgbClr val="0F4C81"/>
                      </a:solidFill>
                      <a:prstDash val="solid"/>
                      <a:round/>
                      <a:headEnd type="none" w="med" len="med"/>
                      <a:tailEnd type="none" w="med" len="med"/>
                    </a:lnR>
                    <a:lnT w="15240" cap="flat" cmpd="sng" algn="ctr">
                      <a:solidFill>
                        <a:srgbClr val="0F4C81"/>
                      </a:solidFill>
                      <a:prstDash val="solid"/>
                      <a:round/>
                      <a:headEnd type="none" w="med" len="med"/>
                      <a:tailEnd type="none" w="med" len="med"/>
                    </a:lnT>
                    <a:lnB w="15240" cap="flat" cmpd="sng" algn="ctr">
                      <a:solidFill>
                        <a:srgbClr val="0F4C8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3" name="Text 5">
            <a:extLst>
              <a:ext uri="{FF2B5EF4-FFF2-40B4-BE49-F238E27FC236}">
                <a16:creationId xmlns:a16="http://schemas.microsoft.com/office/drawing/2014/main" id="{67F649A6-2A3C-92DC-AE52-87F2CEDDC1B0}"/>
              </a:ext>
            </a:extLst>
          </p:cNvPr>
          <p:cNvSpPr/>
          <p:nvPr/>
        </p:nvSpPr>
        <p:spPr>
          <a:xfrm>
            <a:off x="2412460" y="2988108"/>
            <a:ext cx="2197900" cy="258541"/>
          </a:xfrm>
          <a:prstGeom prst="rect">
            <a:avLst/>
          </a:prstGeom>
          <a:ln/>
        </p:spPr>
        <p:style>
          <a:lnRef idx="1">
            <a:schemeClr val="accent5"/>
          </a:lnRef>
          <a:fillRef idx="2">
            <a:schemeClr val="accent5"/>
          </a:fillRef>
          <a:effectRef idx="1">
            <a:schemeClr val="accent5"/>
          </a:effectRef>
          <a:fontRef idx="minor">
            <a:schemeClr val="dk1"/>
          </a:fontRef>
        </p:style>
        <p:txBody>
          <a:bodyPr wrap="square" rtlCol="0" anchor="ctr"/>
          <a:lstStyle/>
          <a:p>
            <a:r>
              <a:rPr lang="en-IN" sz="1600" b="1" dirty="0">
                <a:solidFill>
                  <a:srgbClr val="0F4C81"/>
                </a:solidFill>
              </a:rPr>
              <a:t>ROI Roadmap</a:t>
            </a:r>
            <a:endParaRPr lang="en-US" sz="1600" dirty="0"/>
          </a:p>
        </p:txBody>
      </p:sp>
      <p:graphicFrame>
        <p:nvGraphicFramePr>
          <p:cNvPr id="27" name="Table 1">
            <a:extLst>
              <a:ext uri="{FF2B5EF4-FFF2-40B4-BE49-F238E27FC236}">
                <a16:creationId xmlns:a16="http://schemas.microsoft.com/office/drawing/2014/main" id="{399146CE-7179-5F91-B685-211D84D542BF}"/>
              </a:ext>
            </a:extLst>
          </p:cNvPr>
          <p:cNvGraphicFramePr>
            <a:graphicFrameLocks noGrp="1"/>
          </p:cNvGraphicFramePr>
          <p:nvPr>
            <p:extLst>
              <p:ext uri="{D42A27DB-BD31-4B8C-83A1-F6EECF244321}">
                <p14:modId xmlns:p14="http://schemas.microsoft.com/office/powerpoint/2010/main" val="2858600328"/>
              </p:ext>
            </p:extLst>
          </p:nvPr>
        </p:nvGraphicFramePr>
        <p:xfrm>
          <a:off x="8180439" y="3268460"/>
          <a:ext cx="3523881" cy="1234440"/>
        </p:xfrm>
        <a:graphic>
          <a:graphicData uri="http://schemas.openxmlformats.org/drawingml/2006/table">
            <a:tbl>
              <a:tblPr/>
              <a:tblGrid>
                <a:gridCol w="1085481">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0">
                <a:tc>
                  <a:txBody>
                    <a:bodyPr/>
                    <a:lstStyle/>
                    <a:p>
                      <a:pPr marL="0" indent="0" algn="l" defTabSz="914400" rtl="0" eaLnBrk="1" latinLnBrk="0" hangingPunct="1">
                        <a:buNone/>
                      </a:pPr>
                      <a:r>
                        <a:rPr lang="en-US" sz="1100" b="1" kern="1200" dirty="0">
                          <a:solidFill>
                            <a:srgbClr val="0F4C81"/>
                          </a:solidFill>
                          <a:latin typeface="+mn-lt"/>
                          <a:ea typeface="+mn-ea"/>
                          <a:cs typeface="+mn-cs"/>
                        </a:rPr>
                        <a:t>Module</a:t>
                      </a:r>
                    </a:p>
                  </a:txBody>
                  <a:tcPr>
                    <a:lnL w="19050" cap="flat" cmpd="sng" algn="ctr">
                      <a:solidFill>
                        <a:srgbClr val="0F4C81"/>
                      </a:solidFill>
                      <a:prstDash val="solid"/>
                      <a:round/>
                      <a:headEnd type="none" w="med" len="med"/>
                      <a:tailEnd type="none" w="med" len="med"/>
                    </a:lnL>
                    <a:lnR w="19050" cap="flat" cmpd="sng" algn="ctr">
                      <a:solidFill>
                        <a:srgbClr val="0F4C81"/>
                      </a:solidFill>
                      <a:prstDash val="solid"/>
                      <a:round/>
                      <a:headEnd type="none" w="med" len="med"/>
                      <a:tailEnd type="none" w="med" len="med"/>
                    </a:lnR>
                    <a:lnT w="19050" cap="flat" cmpd="sng" algn="ctr">
                      <a:solidFill>
                        <a:srgbClr val="0F4C81"/>
                      </a:solidFill>
                      <a:prstDash val="solid"/>
                      <a:round/>
                      <a:headEnd type="none" w="med" len="med"/>
                      <a:tailEnd type="none" w="med" len="med"/>
                    </a:lnT>
                    <a:lnB w="19050" cap="flat" cmpd="sng" algn="ctr">
                      <a:solidFill>
                        <a:srgbClr val="0F4C81"/>
                      </a:solidFill>
                      <a:prstDash val="solid"/>
                      <a:round/>
                      <a:headEnd type="none" w="med" len="med"/>
                      <a:tailEnd type="none" w="med" len="med"/>
                    </a:lnB>
                    <a:solidFill>
                      <a:schemeClr val="accent3">
                        <a:lumMod val="20000"/>
                        <a:lumOff val="80000"/>
                      </a:schemeClr>
                    </a:solidFill>
                  </a:tcPr>
                </a:tc>
                <a:tc>
                  <a:txBody>
                    <a:bodyPr/>
                    <a:lstStyle/>
                    <a:p>
                      <a:pPr marL="0" indent="0" algn="l" defTabSz="914400" rtl="0" eaLnBrk="1" latinLnBrk="0" hangingPunct="1">
                        <a:buNone/>
                      </a:pPr>
                      <a:r>
                        <a:rPr lang="en-US" sz="1100" b="1" kern="1200" dirty="0">
                          <a:solidFill>
                            <a:srgbClr val="0F4C81"/>
                          </a:solidFill>
                          <a:latin typeface="+mn-lt"/>
                          <a:ea typeface="+mn-ea"/>
                          <a:cs typeface="+mn-cs"/>
                        </a:rPr>
                        <a:t>3-Month Target</a:t>
                      </a:r>
                    </a:p>
                  </a:txBody>
                  <a:tcPr>
                    <a:lnL w="19050" cap="flat" cmpd="sng" algn="ctr">
                      <a:solidFill>
                        <a:srgbClr val="0F4C81"/>
                      </a:solidFill>
                      <a:prstDash val="solid"/>
                      <a:round/>
                      <a:headEnd type="none" w="med" len="med"/>
                      <a:tailEnd type="none" w="med" len="med"/>
                    </a:lnL>
                    <a:lnR w="19050" cap="flat" cmpd="sng" algn="ctr">
                      <a:solidFill>
                        <a:srgbClr val="0F4C81"/>
                      </a:solidFill>
                      <a:prstDash val="solid"/>
                      <a:round/>
                      <a:headEnd type="none" w="med" len="med"/>
                      <a:tailEnd type="none" w="med" len="med"/>
                    </a:lnR>
                    <a:lnT w="19050" cap="flat" cmpd="sng" algn="ctr">
                      <a:solidFill>
                        <a:srgbClr val="0F4C81"/>
                      </a:solidFill>
                      <a:prstDash val="solid"/>
                      <a:round/>
                      <a:headEnd type="none" w="med" len="med"/>
                      <a:tailEnd type="none" w="med" len="med"/>
                    </a:lnT>
                    <a:lnB w="19050" cap="flat" cmpd="sng" algn="ctr">
                      <a:solidFill>
                        <a:srgbClr val="0F4C81"/>
                      </a:solidFill>
                      <a:prstDash val="solid"/>
                      <a:round/>
                      <a:headEnd type="none" w="med" len="med"/>
                      <a:tailEnd type="none" w="med" len="med"/>
                    </a:lnB>
                    <a:solidFill>
                      <a:schemeClr val="accent3">
                        <a:lumMod val="20000"/>
                        <a:lumOff val="80000"/>
                      </a:schemeClr>
                    </a:solidFill>
                  </a:tcPr>
                </a:tc>
                <a:tc>
                  <a:txBody>
                    <a:bodyPr/>
                    <a:lstStyle/>
                    <a:p>
                      <a:pPr marL="0" indent="0" algn="l" defTabSz="914400" rtl="0" eaLnBrk="1" latinLnBrk="0" hangingPunct="1">
                        <a:buNone/>
                      </a:pPr>
                      <a:r>
                        <a:rPr lang="en-US" sz="1100" b="1" kern="1200" dirty="0">
                          <a:solidFill>
                            <a:srgbClr val="0F4C81"/>
                          </a:solidFill>
                          <a:latin typeface="+mn-lt"/>
                          <a:ea typeface="+mn-ea"/>
                          <a:cs typeface="+mn-cs"/>
                        </a:rPr>
                        <a:t>6-Month Target</a:t>
                      </a:r>
                    </a:p>
                  </a:txBody>
                  <a:tcPr>
                    <a:lnL w="19050" cap="flat" cmpd="sng" algn="ctr">
                      <a:solidFill>
                        <a:srgbClr val="0F4C81"/>
                      </a:solidFill>
                      <a:prstDash val="solid"/>
                      <a:round/>
                      <a:headEnd type="none" w="med" len="med"/>
                      <a:tailEnd type="none" w="med" len="med"/>
                    </a:lnL>
                    <a:lnR w="19050" cap="flat" cmpd="sng" algn="ctr">
                      <a:solidFill>
                        <a:srgbClr val="0F4C81"/>
                      </a:solidFill>
                      <a:prstDash val="solid"/>
                      <a:round/>
                      <a:headEnd type="none" w="med" len="med"/>
                      <a:tailEnd type="none" w="med" len="med"/>
                    </a:lnR>
                    <a:lnT w="19050" cap="flat" cmpd="sng" algn="ctr">
                      <a:solidFill>
                        <a:srgbClr val="0F4C81"/>
                      </a:solidFill>
                      <a:prstDash val="solid"/>
                      <a:round/>
                      <a:headEnd type="none" w="med" len="med"/>
                      <a:tailEnd type="none" w="med" len="med"/>
                    </a:lnT>
                    <a:lnB w="19050" cap="flat" cmpd="sng" algn="ctr">
                      <a:solidFill>
                        <a:srgbClr val="0F4C8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000000"/>
                          </a:solidFill>
                        </a:rPr>
                        <a:t>GUI</a:t>
                      </a:r>
                      <a:endParaRPr lang="en-US" sz="1000" dirty="0"/>
                    </a:p>
                  </a:txBody>
                  <a:tcPr>
                    <a:lnL w="19050" cap="flat" cmpd="sng" algn="ctr">
                      <a:solidFill>
                        <a:srgbClr val="0F4C81"/>
                      </a:solidFill>
                      <a:prstDash val="solid"/>
                      <a:round/>
                      <a:headEnd type="none" w="med" len="med"/>
                      <a:tailEnd type="none" w="med" len="med"/>
                    </a:lnL>
                    <a:lnR w="19050" cap="flat" cmpd="sng" algn="ctr">
                      <a:solidFill>
                        <a:srgbClr val="0F4C81"/>
                      </a:solidFill>
                      <a:prstDash val="solid"/>
                      <a:round/>
                      <a:headEnd type="none" w="med" len="med"/>
                      <a:tailEnd type="none" w="med" len="med"/>
                    </a:lnR>
                    <a:lnT w="19050" cap="flat" cmpd="sng" algn="ctr">
                      <a:solidFill>
                        <a:srgbClr val="0F4C81"/>
                      </a:solidFill>
                      <a:prstDash val="solid"/>
                      <a:round/>
                      <a:headEnd type="none" w="med" len="med"/>
                      <a:tailEnd type="none" w="med" len="med"/>
                    </a:lnT>
                    <a:lnB w="19050" cap="flat" cmpd="sng" algn="ctr">
                      <a:solidFill>
                        <a:srgbClr val="0F4C8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20%</a:t>
                      </a:r>
                      <a:endParaRPr lang="en-US" sz="1000" dirty="0"/>
                    </a:p>
                  </a:txBody>
                  <a:tcPr>
                    <a:lnL w="19050" cap="flat" cmpd="sng" algn="ctr">
                      <a:solidFill>
                        <a:srgbClr val="0F4C81"/>
                      </a:solidFill>
                      <a:prstDash val="solid"/>
                      <a:round/>
                      <a:headEnd type="none" w="med" len="med"/>
                      <a:tailEnd type="none" w="med" len="med"/>
                    </a:lnL>
                    <a:lnR w="19050" cap="flat" cmpd="sng" algn="ctr">
                      <a:solidFill>
                        <a:srgbClr val="0F4C81"/>
                      </a:solidFill>
                      <a:prstDash val="solid"/>
                      <a:round/>
                      <a:headEnd type="none" w="med" len="med"/>
                      <a:tailEnd type="none" w="med" len="med"/>
                    </a:lnR>
                    <a:lnT w="19050" cap="flat" cmpd="sng" algn="ctr">
                      <a:solidFill>
                        <a:srgbClr val="0F4C81"/>
                      </a:solidFill>
                      <a:prstDash val="solid"/>
                      <a:round/>
                      <a:headEnd type="none" w="med" len="med"/>
                      <a:tailEnd type="none" w="med" len="med"/>
                    </a:lnT>
                    <a:lnB w="19050" cap="flat" cmpd="sng" algn="ctr">
                      <a:solidFill>
                        <a:srgbClr val="0F4C8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50%</a:t>
                      </a:r>
                      <a:endParaRPr lang="en-US" sz="1000" dirty="0"/>
                    </a:p>
                  </a:txBody>
                  <a:tcPr>
                    <a:lnL w="19050" cap="flat" cmpd="sng" algn="ctr">
                      <a:solidFill>
                        <a:srgbClr val="0F4C81"/>
                      </a:solidFill>
                      <a:prstDash val="solid"/>
                      <a:round/>
                      <a:headEnd type="none" w="med" len="med"/>
                      <a:tailEnd type="none" w="med" len="med"/>
                    </a:lnL>
                    <a:lnR w="19050" cap="flat" cmpd="sng" algn="ctr">
                      <a:solidFill>
                        <a:srgbClr val="0F4C81"/>
                      </a:solidFill>
                      <a:prstDash val="solid"/>
                      <a:round/>
                      <a:headEnd type="none" w="med" len="med"/>
                      <a:tailEnd type="none" w="med" len="med"/>
                    </a:lnR>
                    <a:lnT w="19050" cap="flat" cmpd="sng" algn="ctr">
                      <a:solidFill>
                        <a:srgbClr val="0F4C81"/>
                      </a:solidFill>
                      <a:prstDash val="solid"/>
                      <a:round/>
                      <a:headEnd type="none" w="med" len="med"/>
                      <a:tailEnd type="none" w="med" len="med"/>
                    </a:lnT>
                    <a:lnB w="19050" cap="flat" cmpd="sng" algn="ctr">
                      <a:solidFill>
                        <a:srgbClr val="0F4C8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dirty="0">
                          <a:solidFill>
                            <a:srgbClr val="000000"/>
                          </a:solidFill>
                        </a:rPr>
                        <a:t>API</a:t>
                      </a:r>
                      <a:endParaRPr lang="en-US" sz="1000" dirty="0"/>
                    </a:p>
                  </a:txBody>
                  <a:tcPr>
                    <a:lnL w="19050" cap="flat" cmpd="sng" algn="ctr">
                      <a:solidFill>
                        <a:srgbClr val="0F4C81"/>
                      </a:solidFill>
                      <a:prstDash val="solid"/>
                      <a:round/>
                      <a:headEnd type="none" w="med" len="med"/>
                      <a:tailEnd type="none" w="med" len="med"/>
                    </a:lnL>
                    <a:lnR w="19050" cap="flat" cmpd="sng" algn="ctr">
                      <a:solidFill>
                        <a:srgbClr val="0F4C81"/>
                      </a:solidFill>
                      <a:prstDash val="solid"/>
                      <a:round/>
                      <a:headEnd type="none" w="med" len="med"/>
                      <a:tailEnd type="none" w="med" len="med"/>
                    </a:lnR>
                    <a:lnT w="19050" cap="flat" cmpd="sng" algn="ctr">
                      <a:solidFill>
                        <a:srgbClr val="0F4C81"/>
                      </a:solidFill>
                      <a:prstDash val="solid"/>
                      <a:round/>
                      <a:headEnd type="none" w="med" len="med"/>
                      <a:tailEnd type="none" w="med" len="med"/>
                    </a:lnT>
                    <a:lnB w="19050" cap="flat" cmpd="sng" algn="ctr">
                      <a:solidFill>
                        <a:srgbClr val="0F4C8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20%</a:t>
                      </a:r>
                      <a:endParaRPr lang="en-US" sz="1000" dirty="0"/>
                    </a:p>
                  </a:txBody>
                  <a:tcPr>
                    <a:lnL w="19050" cap="flat" cmpd="sng" algn="ctr">
                      <a:solidFill>
                        <a:srgbClr val="0F4C81"/>
                      </a:solidFill>
                      <a:prstDash val="solid"/>
                      <a:round/>
                      <a:headEnd type="none" w="med" len="med"/>
                      <a:tailEnd type="none" w="med" len="med"/>
                    </a:lnL>
                    <a:lnR w="19050" cap="flat" cmpd="sng" algn="ctr">
                      <a:solidFill>
                        <a:srgbClr val="0F4C81"/>
                      </a:solidFill>
                      <a:prstDash val="solid"/>
                      <a:round/>
                      <a:headEnd type="none" w="med" len="med"/>
                      <a:tailEnd type="none" w="med" len="med"/>
                    </a:lnR>
                    <a:lnT w="19050" cap="flat" cmpd="sng" algn="ctr">
                      <a:solidFill>
                        <a:srgbClr val="0F4C81"/>
                      </a:solidFill>
                      <a:prstDash val="solid"/>
                      <a:round/>
                      <a:headEnd type="none" w="med" len="med"/>
                      <a:tailEnd type="none" w="med" len="med"/>
                    </a:lnT>
                    <a:lnB w="19050" cap="flat" cmpd="sng" algn="ctr">
                      <a:solidFill>
                        <a:srgbClr val="0F4C8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50%</a:t>
                      </a:r>
                      <a:endParaRPr lang="en-US" sz="1000" dirty="0"/>
                    </a:p>
                  </a:txBody>
                  <a:tcPr>
                    <a:lnL w="19050" cap="flat" cmpd="sng" algn="ctr">
                      <a:solidFill>
                        <a:srgbClr val="0F4C81"/>
                      </a:solidFill>
                      <a:prstDash val="solid"/>
                      <a:round/>
                      <a:headEnd type="none" w="med" len="med"/>
                      <a:tailEnd type="none" w="med" len="med"/>
                    </a:lnL>
                    <a:lnR w="19050" cap="flat" cmpd="sng" algn="ctr">
                      <a:solidFill>
                        <a:srgbClr val="0F4C81"/>
                      </a:solidFill>
                      <a:prstDash val="solid"/>
                      <a:round/>
                      <a:headEnd type="none" w="med" len="med"/>
                      <a:tailEnd type="none" w="med" len="med"/>
                    </a:lnR>
                    <a:lnT w="19050" cap="flat" cmpd="sng" algn="ctr">
                      <a:solidFill>
                        <a:srgbClr val="0F4C81"/>
                      </a:solidFill>
                      <a:prstDash val="solid"/>
                      <a:round/>
                      <a:headEnd type="none" w="med" len="med"/>
                      <a:tailEnd type="none" w="med" len="med"/>
                    </a:lnT>
                    <a:lnB w="19050" cap="flat" cmpd="sng" algn="ctr">
                      <a:solidFill>
                        <a:srgbClr val="0F4C8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000" dirty="0">
                          <a:solidFill>
                            <a:srgbClr val="000000"/>
                          </a:solidFill>
                        </a:rPr>
                        <a:t>Settlement</a:t>
                      </a:r>
                      <a:endParaRPr lang="en-US" sz="1000" dirty="0"/>
                    </a:p>
                  </a:txBody>
                  <a:tcPr>
                    <a:lnL w="19050" cap="flat" cmpd="sng" algn="ctr">
                      <a:solidFill>
                        <a:srgbClr val="0F4C81"/>
                      </a:solidFill>
                      <a:prstDash val="solid"/>
                      <a:round/>
                      <a:headEnd type="none" w="med" len="med"/>
                      <a:tailEnd type="none" w="med" len="med"/>
                    </a:lnL>
                    <a:lnR w="19050" cap="flat" cmpd="sng" algn="ctr">
                      <a:solidFill>
                        <a:srgbClr val="0F4C81"/>
                      </a:solidFill>
                      <a:prstDash val="solid"/>
                      <a:round/>
                      <a:headEnd type="none" w="med" len="med"/>
                      <a:tailEnd type="none" w="med" len="med"/>
                    </a:lnR>
                    <a:lnT w="19050" cap="flat" cmpd="sng" algn="ctr">
                      <a:solidFill>
                        <a:srgbClr val="0F4C81"/>
                      </a:solidFill>
                      <a:prstDash val="solid"/>
                      <a:round/>
                      <a:headEnd type="none" w="med" len="med"/>
                      <a:tailEnd type="none" w="med" len="med"/>
                    </a:lnT>
                    <a:lnB w="19050" cap="flat" cmpd="sng" algn="ctr">
                      <a:solidFill>
                        <a:srgbClr val="0F4C8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20%</a:t>
                      </a:r>
                      <a:endParaRPr lang="en-US" sz="1000" dirty="0"/>
                    </a:p>
                  </a:txBody>
                  <a:tcPr>
                    <a:lnL w="19050" cap="flat" cmpd="sng" algn="ctr">
                      <a:solidFill>
                        <a:srgbClr val="0F4C81"/>
                      </a:solidFill>
                      <a:prstDash val="solid"/>
                      <a:round/>
                      <a:headEnd type="none" w="med" len="med"/>
                      <a:tailEnd type="none" w="med" len="med"/>
                    </a:lnL>
                    <a:lnR w="19050" cap="flat" cmpd="sng" algn="ctr">
                      <a:solidFill>
                        <a:srgbClr val="0F4C81"/>
                      </a:solidFill>
                      <a:prstDash val="solid"/>
                      <a:round/>
                      <a:headEnd type="none" w="med" len="med"/>
                      <a:tailEnd type="none" w="med" len="med"/>
                    </a:lnR>
                    <a:lnT w="19050" cap="flat" cmpd="sng" algn="ctr">
                      <a:solidFill>
                        <a:srgbClr val="0F4C81"/>
                      </a:solidFill>
                      <a:prstDash val="solid"/>
                      <a:round/>
                      <a:headEnd type="none" w="med" len="med"/>
                      <a:tailEnd type="none" w="med" len="med"/>
                    </a:lnT>
                    <a:lnB w="19050" cap="flat" cmpd="sng" algn="ctr">
                      <a:solidFill>
                        <a:srgbClr val="0F4C8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50%</a:t>
                      </a:r>
                      <a:endParaRPr lang="en-US" sz="1000" dirty="0"/>
                    </a:p>
                  </a:txBody>
                  <a:tcPr>
                    <a:lnL w="19050" cap="flat" cmpd="sng" algn="ctr">
                      <a:solidFill>
                        <a:srgbClr val="0F4C81"/>
                      </a:solidFill>
                      <a:prstDash val="solid"/>
                      <a:round/>
                      <a:headEnd type="none" w="med" len="med"/>
                      <a:tailEnd type="none" w="med" len="med"/>
                    </a:lnL>
                    <a:lnR w="19050" cap="flat" cmpd="sng" algn="ctr">
                      <a:solidFill>
                        <a:srgbClr val="0F4C81"/>
                      </a:solidFill>
                      <a:prstDash val="solid"/>
                      <a:round/>
                      <a:headEnd type="none" w="med" len="med"/>
                      <a:tailEnd type="none" w="med" len="med"/>
                    </a:lnR>
                    <a:lnT w="19050" cap="flat" cmpd="sng" algn="ctr">
                      <a:solidFill>
                        <a:srgbClr val="0F4C81"/>
                      </a:solidFill>
                      <a:prstDash val="solid"/>
                      <a:round/>
                      <a:headEnd type="none" w="med" len="med"/>
                      <a:tailEnd type="none" w="med" len="med"/>
                    </a:lnT>
                    <a:lnB w="19050" cap="flat" cmpd="sng" algn="ctr">
                      <a:solidFill>
                        <a:srgbClr val="0F4C8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00" dirty="0">
                          <a:solidFill>
                            <a:srgbClr val="000000"/>
                          </a:solidFill>
                        </a:rPr>
                        <a:t>Performance</a:t>
                      </a:r>
                      <a:endParaRPr lang="en-US" sz="1000" dirty="0"/>
                    </a:p>
                  </a:txBody>
                  <a:tcPr>
                    <a:lnL w="19050" cap="flat" cmpd="sng" algn="ctr">
                      <a:solidFill>
                        <a:srgbClr val="0F4C81"/>
                      </a:solidFill>
                      <a:prstDash val="solid"/>
                      <a:round/>
                      <a:headEnd type="none" w="med" len="med"/>
                      <a:tailEnd type="none" w="med" len="med"/>
                    </a:lnL>
                    <a:lnR w="19050" cap="flat" cmpd="sng" algn="ctr">
                      <a:solidFill>
                        <a:srgbClr val="0F4C81"/>
                      </a:solidFill>
                      <a:prstDash val="solid"/>
                      <a:round/>
                      <a:headEnd type="none" w="med" len="med"/>
                      <a:tailEnd type="none" w="med" len="med"/>
                    </a:lnR>
                    <a:lnT w="19050" cap="flat" cmpd="sng" algn="ctr">
                      <a:solidFill>
                        <a:srgbClr val="0F4C81"/>
                      </a:solidFill>
                      <a:prstDash val="solid"/>
                      <a:round/>
                      <a:headEnd type="none" w="med" len="med"/>
                      <a:tailEnd type="none" w="med" len="med"/>
                    </a:lnT>
                    <a:lnB w="19050" cap="flat" cmpd="sng" algn="ctr">
                      <a:solidFill>
                        <a:srgbClr val="0F4C8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20%</a:t>
                      </a:r>
                      <a:endParaRPr lang="en-US" sz="1000" dirty="0"/>
                    </a:p>
                  </a:txBody>
                  <a:tcPr>
                    <a:lnL w="19050" cap="flat" cmpd="sng" algn="ctr">
                      <a:solidFill>
                        <a:srgbClr val="0F4C81"/>
                      </a:solidFill>
                      <a:prstDash val="solid"/>
                      <a:round/>
                      <a:headEnd type="none" w="med" len="med"/>
                      <a:tailEnd type="none" w="med" len="med"/>
                    </a:lnL>
                    <a:lnR w="19050" cap="flat" cmpd="sng" algn="ctr">
                      <a:solidFill>
                        <a:srgbClr val="0F4C81"/>
                      </a:solidFill>
                      <a:prstDash val="solid"/>
                      <a:round/>
                      <a:headEnd type="none" w="med" len="med"/>
                      <a:tailEnd type="none" w="med" len="med"/>
                    </a:lnR>
                    <a:lnT w="19050" cap="flat" cmpd="sng" algn="ctr">
                      <a:solidFill>
                        <a:srgbClr val="0F4C81"/>
                      </a:solidFill>
                      <a:prstDash val="solid"/>
                      <a:round/>
                      <a:headEnd type="none" w="med" len="med"/>
                      <a:tailEnd type="none" w="med" len="med"/>
                    </a:lnT>
                    <a:lnB w="19050" cap="flat" cmpd="sng" algn="ctr">
                      <a:solidFill>
                        <a:srgbClr val="0F4C8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50%</a:t>
                      </a:r>
                      <a:endParaRPr lang="en-US" sz="1000" dirty="0"/>
                    </a:p>
                  </a:txBody>
                  <a:tcPr>
                    <a:lnL w="19050" cap="flat" cmpd="sng" algn="ctr">
                      <a:solidFill>
                        <a:srgbClr val="0F4C81"/>
                      </a:solidFill>
                      <a:prstDash val="solid"/>
                      <a:round/>
                      <a:headEnd type="none" w="med" len="med"/>
                      <a:tailEnd type="none" w="med" len="med"/>
                    </a:lnL>
                    <a:lnR w="19050" cap="flat" cmpd="sng" algn="ctr">
                      <a:solidFill>
                        <a:srgbClr val="0F4C81"/>
                      </a:solidFill>
                      <a:prstDash val="solid"/>
                      <a:round/>
                      <a:headEnd type="none" w="med" len="med"/>
                      <a:tailEnd type="none" w="med" len="med"/>
                    </a:lnR>
                    <a:lnT w="19050" cap="flat" cmpd="sng" algn="ctr">
                      <a:solidFill>
                        <a:srgbClr val="0F4C81"/>
                      </a:solidFill>
                      <a:prstDash val="solid"/>
                      <a:round/>
                      <a:headEnd type="none" w="med" len="med"/>
                      <a:tailEnd type="none" w="med" len="med"/>
                    </a:lnT>
                    <a:lnB w="19050" cap="flat" cmpd="sng" algn="ctr">
                      <a:solidFill>
                        <a:srgbClr val="0F4C8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31" name="Text 5">
            <a:extLst>
              <a:ext uri="{FF2B5EF4-FFF2-40B4-BE49-F238E27FC236}">
                <a16:creationId xmlns:a16="http://schemas.microsoft.com/office/drawing/2014/main" id="{BB1D9B8C-457F-38C5-698B-B8988F6ADC2B}"/>
              </a:ext>
            </a:extLst>
          </p:cNvPr>
          <p:cNvSpPr/>
          <p:nvPr/>
        </p:nvSpPr>
        <p:spPr>
          <a:xfrm>
            <a:off x="-19455" y="3009137"/>
            <a:ext cx="2834640" cy="800100"/>
          </a:xfrm>
          <a:prstGeom prst="rect">
            <a:avLst/>
          </a:prstGeom>
          <a:noFill/>
          <a:ln/>
        </p:spPr>
        <p:txBody>
          <a:bodyPr wrap="square" rtlCol="0" anchor="ctr"/>
          <a:lstStyle/>
          <a:p>
            <a:endParaRPr lang="en-US" sz="1100" dirty="0"/>
          </a:p>
          <a:p>
            <a:r>
              <a:rPr lang="en-IN" sz="1100" dirty="0">
                <a:latin typeface="Calibri" panose="020F0502020204030204" pitchFamily="34" charset="0"/>
                <a:ea typeface="Calibri" panose="020F0502020204030204" pitchFamily="34" charset="0"/>
                <a:cs typeface="Calibri" panose="020F0502020204030204" pitchFamily="34" charset="0"/>
              </a:rPr>
              <a:t>✅ </a:t>
            </a:r>
            <a:r>
              <a:rPr lang="en-IN" sz="1100" dirty="0">
                <a:effectLst>
                  <a:reflection blurRad="6350" stA="55000" endA="300" endPos="45500" dir="5400000" sy="-100000" algn="bl" rotWithShape="0"/>
                </a:effectLst>
                <a:latin typeface="Calibri" panose="020F0502020204030204" pitchFamily="34" charset="0"/>
                <a:ea typeface="Calibri" panose="020F0502020204030204" pitchFamily="34" charset="0"/>
                <a:cs typeface="Calibri" panose="020F0502020204030204" pitchFamily="34" charset="0"/>
              </a:rPr>
              <a:t>Payment Gateway</a:t>
            </a:r>
            <a:br>
              <a:rPr lang="en-IN" sz="1100" dirty="0">
                <a:effectLst>
                  <a:reflection blurRad="6350" stA="55000" endA="300" endPos="45500" dir="5400000" sy="-100000" algn="bl" rotWithShape="0"/>
                </a:effectLst>
                <a:latin typeface="Calibri" panose="020F0502020204030204" pitchFamily="34" charset="0"/>
                <a:ea typeface="Calibri" panose="020F0502020204030204" pitchFamily="34" charset="0"/>
                <a:cs typeface="Calibri" panose="020F0502020204030204" pitchFamily="34" charset="0"/>
              </a:rPr>
            </a:br>
            <a:r>
              <a:rPr lang="en-IN" sz="1100" dirty="0">
                <a:effectLst>
                  <a:reflection blurRad="6350" stA="55000" endA="300" endPos="45500" dir="5400000" sy="-100000" algn="bl" rotWithShape="0"/>
                </a:effectLst>
                <a:latin typeface="Calibri" panose="020F0502020204030204" pitchFamily="34" charset="0"/>
                <a:ea typeface="Calibri" panose="020F0502020204030204" pitchFamily="34" charset="0"/>
                <a:cs typeface="Calibri" panose="020F0502020204030204" pitchFamily="34" charset="0"/>
              </a:rPr>
              <a:t>✅ Recon</a:t>
            </a:r>
            <a:br>
              <a:rPr lang="en-IN" sz="1100" dirty="0">
                <a:effectLst>
                  <a:reflection blurRad="6350" stA="55000" endA="300" endPos="45500" dir="5400000" sy="-100000" algn="bl" rotWithShape="0"/>
                </a:effectLst>
                <a:latin typeface="Calibri" panose="020F0502020204030204" pitchFamily="34" charset="0"/>
                <a:ea typeface="Calibri" panose="020F0502020204030204" pitchFamily="34" charset="0"/>
                <a:cs typeface="Calibri" panose="020F0502020204030204" pitchFamily="34" charset="0"/>
              </a:rPr>
            </a:br>
            <a:r>
              <a:rPr lang="en-IN" sz="1100" dirty="0">
                <a:effectLst>
                  <a:reflection blurRad="6350" stA="55000" endA="300" endPos="45500" dir="5400000" sy="-100000" algn="bl" rotWithShape="0"/>
                </a:effectLst>
                <a:latin typeface="Calibri" panose="020F0502020204030204" pitchFamily="34" charset="0"/>
                <a:ea typeface="Calibri" panose="020F0502020204030204" pitchFamily="34" charset="0"/>
                <a:cs typeface="Calibri" panose="020F0502020204030204" pitchFamily="34" charset="0"/>
              </a:rPr>
              <a:t>✅ CMS</a:t>
            </a:r>
            <a:endParaRPr lang="en-US" sz="1100" dirty="0">
              <a:effectLst>
                <a:reflection blurRad="6350" stA="55000" endA="300" endPos="45500" dir="5400000" sy="-100000" algn="bl" rotWithShape="0"/>
              </a:effectLst>
            </a:endParaRPr>
          </a:p>
        </p:txBody>
      </p:sp>
      <p:sp>
        <p:nvSpPr>
          <p:cNvPr id="33" name="Text 5">
            <a:extLst>
              <a:ext uri="{FF2B5EF4-FFF2-40B4-BE49-F238E27FC236}">
                <a16:creationId xmlns:a16="http://schemas.microsoft.com/office/drawing/2014/main" id="{72A3740E-206F-74A2-16AD-D26AECD947EA}"/>
              </a:ext>
            </a:extLst>
          </p:cNvPr>
          <p:cNvSpPr/>
          <p:nvPr/>
        </p:nvSpPr>
        <p:spPr>
          <a:xfrm>
            <a:off x="60311" y="2920491"/>
            <a:ext cx="1924132" cy="274320"/>
          </a:xfrm>
          <a:prstGeom prst="rect">
            <a:avLst/>
          </a:prstGeom>
          <a:ln/>
        </p:spPr>
        <p:style>
          <a:lnRef idx="1">
            <a:schemeClr val="accent5"/>
          </a:lnRef>
          <a:fillRef idx="2">
            <a:schemeClr val="accent5"/>
          </a:fillRef>
          <a:effectRef idx="1">
            <a:schemeClr val="accent5"/>
          </a:effectRef>
          <a:fontRef idx="minor">
            <a:schemeClr val="dk1"/>
          </a:fontRef>
        </p:style>
        <p:txBody>
          <a:bodyPr wrap="square" rtlCol="0" anchor="ctr"/>
          <a:lstStyle/>
          <a:p>
            <a:r>
              <a:rPr lang="en-US" b="1" dirty="0">
                <a:solidFill>
                  <a:srgbClr val="0F4C81"/>
                </a:solidFill>
              </a:rPr>
              <a:t>Target </a:t>
            </a:r>
            <a:r>
              <a:rPr lang="en-US" sz="1600" b="1" dirty="0">
                <a:solidFill>
                  <a:srgbClr val="0F4C81"/>
                </a:solidFill>
              </a:rPr>
              <a:t>Products</a:t>
            </a:r>
          </a:p>
        </p:txBody>
      </p:sp>
      <p:sp>
        <p:nvSpPr>
          <p:cNvPr id="35" name="Text 5">
            <a:extLst>
              <a:ext uri="{FF2B5EF4-FFF2-40B4-BE49-F238E27FC236}">
                <a16:creationId xmlns:a16="http://schemas.microsoft.com/office/drawing/2014/main" id="{A6E13121-B38B-8B9A-1341-EA49B2F424AA}"/>
              </a:ext>
            </a:extLst>
          </p:cNvPr>
          <p:cNvSpPr/>
          <p:nvPr/>
        </p:nvSpPr>
        <p:spPr>
          <a:xfrm>
            <a:off x="8046720" y="2966226"/>
            <a:ext cx="2197900" cy="258541"/>
          </a:xfrm>
          <a:prstGeom prst="rect">
            <a:avLst/>
          </a:prstGeom>
          <a:ln/>
        </p:spPr>
        <p:style>
          <a:lnRef idx="1">
            <a:schemeClr val="accent5"/>
          </a:lnRef>
          <a:fillRef idx="2">
            <a:schemeClr val="accent5"/>
          </a:fillRef>
          <a:effectRef idx="1">
            <a:schemeClr val="accent5"/>
          </a:effectRef>
          <a:fontRef idx="minor">
            <a:schemeClr val="dk1"/>
          </a:fontRef>
        </p:style>
        <p:txBody>
          <a:bodyPr wrap="square" rtlCol="0" anchor="ctr"/>
          <a:lstStyle/>
          <a:p>
            <a:r>
              <a:rPr lang="en-IN" sz="1600" b="1" dirty="0">
                <a:solidFill>
                  <a:srgbClr val="0F4C81"/>
                </a:solidFill>
              </a:rPr>
              <a:t>ROI Target Modules</a:t>
            </a:r>
            <a:endParaRPr lang="en-US" sz="1600" dirty="0"/>
          </a:p>
        </p:txBody>
      </p:sp>
      <p:sp>
        <p:nvSpPr>
          <p:cNvPr id="37" name="Text 5">
            <a:extLst>
              <a:ext uri="{FF2B5EF4-FFF2-40B4-BE49-F238E27FC236}">
                <a16:creationId xmlns:a16="http://schemas.microsoft.com/office/drawing/2014/main" id="{8644D0FE-551A-7ECC-A334-3B809E5A8DBC}"/>
              </a:ext>
            </a:extLst>
          </p:cNvPr>
          <p:cNvSpPr/>
          <p:nvPr/>
        </p:nvSpPr>
        <p:spPr>
          <a:xfrm>
            <a:off x="71985" y="4456781"/>
            <a:ext cx="2998260" cy="258541"/>
          </a:xfrm>
          <a:prstGeom prst="rect">
            <a:avLst/>
          </a:prstGeom>
          <a:ln/>
        </p:spPr>
        <p:style>
          <a:lnRef idx="1">
            <a:schemeClr val="accent5"/>
          </a:lnRef>
          <a:fillRef idx="2">
            <a:schemeClr val="accent5"/>
          </a:fillRef>
          <a:effectRef idx="1">
            <a:schemeClr val="accent5"/>
          </a:effectRef>
          <a:fontRef idx="minor">
            <a:schemeClr val="dk1"/>
          </a:fontRef>
        </p:style>
        <p:txBody>
          <a:bodyPr wrap="square" rtlCol="0" anchor="ctr"/>
          <a:lstStyle/>
          <a:p>
            <a:r>
              <a:rPr lang="en-IN" sz="1600" b="1" dirty="0">
                <a:solidFill>
                  <a:srgbClr val="0F4C81"/>
                </a:solidFill>
              </a:rPr>
              <a:t> Expected Business Benefits</a:t>
            </a:r>
            <a:endParaRPr lang="en-US" sz="1600" dirty="0"/>
          </a:p>
        </p:txBody>
      </p:sp>
      <p:sp>
        <p:nvSpPr>
          <p:cNvPr id="39" name="Shape 0">
            <a:extLst>
              <a:ext uri="{FF2B5EF4-FFF2-40B4-BE49-F238E27FC236}">
                <a16:creationId xmlns:a16="http://schemas.microsoft.com/office/drawing/2014/main" id="{5703261E-5C3C-1193-30C0-A25CA7AC5228}"/>
              </a:ext>
            </a:extLst>
          </p:cNvPr>
          <p:cNvSpPr/>
          <p:nvPr/>
        </p:nvSpPr>
        <p:spPr>
          <a:xfrm>
            <a:off x="60311" y="2445500"/>
            <a:ext cx="11644009" cy="358140"/>
          </a:xfrm>
          <a:prstGeom prst="rect">
            <a:avLst/>
          </a:prstGeom>
          <a:solidFill>
            <a:schemeClr val="accent3">
              <a:lumMod val="20000"/>
              <a:lumOff val="80000"/>
            </a:schemeClr>
          </a:solidFill>
          <a:ln w="12700">
            <a:solidFill>
              <a:srgbClr val="0F4C81"/>
            </a:solidFill>
            <a:prstDash val="solid"/>
          </a:ln>
        </p:spPr>
        <p:txBody>
          <a:bodyPr/>
          <a:lstStyle/>
          <a:p>
            <a:r>
              <a:rPr lang="en-US" b="1" dirty="0">
                <a:solidFill>
                  <a:srgbClr val="0F4C81"/>
                </a:solidFill>
              </a:rPr>
              <a:t>ROI Roadmap &amp; Strategic Deployment</a:t>
            </a:r>
            <a:endParaRPr lang="en-US" dirty="0"/>
          </a:p>
          <a:p>
            <a:endParaRPr lang="en-IN" dirty="0"/>
          </a:p>
        </p:txBody>
      </p:sp>
      <p:graphicFrame>
        <p:nvGraphicFramePr>
          <p:cNvPr id="11" name="Table 10">
            <a:extLst>
              <a:ext uri="{FF2B5EF4-FFF2-40B4-BE49-F238E27FC236}">
                <a16:creationId xmlns:a16="http://schemas.microsoft.com/office/drawing/2014/main" id="{506F13D0-827F-811F-9FB9-0A7DCA562054}"/>
              </a:ext>
            </a:extLst>
          </p:cNvPr>
          <p:cNvGraphicFramePr>
            <a:graphicFrameLocks noGrp="1"/>
          </p:cNvGraphicFramePr>
          <p:nvPr>
            <p:extLst>
              <p:ext uri="{D42A27DB-BD31-4B8C-83A1-F6EECF244321}">
                <p14:modId xmlns:p14="http://schemas.microsoft.com/office/powerpoint/2010/main" val="3859271077"/>
              </p:ext>
            </p:extLst>
          </p:nvPr>
        </p:nvGraphicFramePr>
        <p:xfrm>
          <a:off x="2441643" y="3261300"/>
          <a:ext cx="5243208" cy="1051560"/>
        </p:xfrm>
        <a:graphic>
          <a:graphicData uri="http://schemas.openxmlformats.org/drawingml/2006/table">
            <a:tbl>
              <a:tblPr>
                <a:tableStyleId>{5C22544A-7EE6-4342-B048-85BDC9FD1C3A}</a:tableStyleId>
              </a:tblPr>
              <a:tblGrid>
                <a:gridCol w="714897">
                  <a:extLst>
                    <a:ext uri="{9D8B030D-6E8A-4147-A177-3AD203B41FA5}">
                      <a16:colId xmlns:a16="http://schemas.microsoft.com/office/drawing/2014/main" val="2562041028"/>
                    </a:ext>
                  </a:extLst>
                </a:gridCol>
                <a:gridCol w="1274161">
                  <a:extLst>
                    <a:ext uri="{9D8B030D-6E8A-4147-A177-3AD203B41FA5}">
                      <a16:colId xmlns:a16="http://schemas.microsoft.com/office/drawing/2014/main" val="531517444"/>
                    </a:ext>
                  </a:extLst>
                </a:gridCol>
                <a:gridCol w="3254150">
                  <a:extLst>
                    <a:ext uri="{9D8B030D-6E8A-4147-A177-3AD203B41FA5}">
                      <a16:colId xmlns:a16="http://schemas.microsoft.com/office/drawing/2014/main" val="4030732673"/>
                    </a:ext>
                  </a:extLst>
                </a:gridCol>
              </a:tblGrid>
              <a:tr h="180975">
                <a:tc>
                  <a:txBody>
                    <a:bodyPr/>
                    <a:lstStyle/>
                    <a:p>
                      <a:pPr marL="0" indent="0" algn="l" defTabSz="914400" rtl="0" eaLnBrk="1" fontAlgn="t" latinLnBrk="0" hangingPunct="1">
                        <a:buNone/>
                      </a:pPr>
                      <a:r>
                        <a:rPr lang="en-IN" sz="1100" b="1" kern="1200" dirty="0">
                          <a:solidFill>
                            <a:srgbClr val="0F4C81"/>
                          </a:solidFill>
                          <a:latin typeface="+mn-lt"/>
                          <a:ea typeface="+mn-ea"/>
                          <a:cs typeface="+mn-cs"/>
                        </a:rPr>
                        <a:t>Version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tint val="20000"/>
                      </a:schemeClr>
                    </a:solidFill>
                  </a:tcPr>
                </a:tc>
                <a:tc>
                  <a:txBody>
                    <a:bodyPr/>
                    <a:lstStyle/>
                    <a:p>
                      <a:pPr marL="0" indent="0" algn="l" defTabSz="914400" rtl="0" eaLnBrk="1" fontAlgn="t" latinLnBrk="0" hangingPunct="1">
                        <a:buNone/>
                      </a:pPr>
                      <a:r>
                        <a:rPr lang="en-IN" sz="1100" b="1" kern="1200" dirty="0">
                          <a:solidFill>
                            <a:srgbClr val="0F4C81"/>
                          </a:solidFill>
                          <a:latin typeface="+mn-lt"/>
                          <a:ea typeface="+mn-ea"/>
                          <a:cs typeface="+mn-cs"/>
                        </a:rPr>
                        <a:t>Timeline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tint val="20000"/>
                      </a:schemeClr>
                    </a:solidFill>
                  </a:tcPr>
                </a:tc>
                <a:tc>
                  <a:txBody>
                    <a:bodyPr/>
                    <a:lstStyle/>
                    <a:p>
                      <a:pPr marL="0" indent="0" algn="l" defTabSz="914400" rtl="0" eaLnBrk="1" fontAlgn="t" latinLnBrk="0" hangingPunct="1">
                        <a:buNone/>
                      </a:pPr>
                      <a:r>
                        <a:rPr lang="en-IN" sz="1100" b="1" kern="1200" dirty="0">
                          <a:solidFill>
                            <a:srgbClr val="0F4C81"/>
                          </a:solidFill>
                          <a:latin typeface="+mn-lt"/>
                          <a:ea typeface="+mn-ea"/>
                          <a:cs typeface="+mn-cs"/>
                        </a:rPr>
                        <a:t>Planned Outcome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tint val="20000"/>
                      </a:schemeClr>
                    </a:solidFill>
                  </a:tcPr>
                </a:tc>
                <a:extLst>
                  <a:ext uri="{0D108BD9-81ED-4DB2-BD59-A6C34878D82A}">
                    <a16:rowId xmlns:a16="http://schemas.microsoft.com/office/drawing/2014/main" val="1507380382"/>
                  </a:ext>
                </a:extLst>
              </a:tr>
              <a:tr h="266700">
                <a:tc>
                  <a:txBody>
                    <a:bodyPr/>
                    <a:lstStyle/>
                    <a:p>
                      <a:pPr algn="l" fontAlgn="b">
                        <a:buNone/>
                      </a:pPr>
                      <a:r>
                        <a:rPr lang="en-IN" sz="1100" b="0" kern="1200">
                          <a:solidFill>
                            <a:schemeClr val="tx1"/>
                          </a:solidFill>
                          <a:latin typeface="+mn-lt"/>
                          <a:ea typeface="+mn-ea"/>
                          <a:cs typeface="+mn-cs"/>
                        </a:rPr>
                        <a:t>Baseline</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tint val="20000"/>
                      </a:schemeClr>
                    </a:solidFill>
                  </a:tcPr>
                </a:tc>
                <a:tc>
                  <a:txBody>
                    <a:bodyPr/>
                    <a:lstStyle/>
                    <a:p>
                      <a:pPr algn="l" fontAlgn="t">
                        <a:buNone/>
                      </a:pPr>
                      <a:r>
                        <a:rPr lang="en-IN" sz="1100" b="0" kern="1200" dirty="0">
                          <a:solidFill>
                            <a:schemeClr val="tx1"/>
                          </a:solidFill>
                          <a:latin typeface="+mn-lt"/>
                          <a:ea typeface="+mn-ea"/>
                          <a:cs typeface="+mn-cs"/>
                        </a:rPr>
                        <a:t>Current State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tint val="20000"/>
                      </a:schemeClr>
                    </a:solidFill>
                  </a:tcPr>
                </a:tc>
                <a:tc>
                  <a:txBody>
                    <a:bodyPr/>
                    <a:lstStyle/>
                    <a:p>
                      <a:pPr algn="l" fontAlgn="t">
                        <a:buNone/>
                      </a:pPr>
                      <a:r>
                        <a:rPr lang="en-IN" sz="1100" b="0" kern="1200" dirty="0">
                          <a:solidFill>
                            <a:schemeClr val="tx1"/>
                          </a:solidFill>
                          <a:latin typeface="+mn-lt"/>
                          <a:ea typeface="+mn-ea"/>
                          <a:cs typeface="+mn-cs"/>
                        </a:rPr>
                        <a:t>Pilot Execution Initiated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tint val="20000"/>
                      </a:schemeClr>
                    </a:solidFill>
                  </a:tcPr>
                </a:tc>
                <a:extLst>
                  <a:ext uri="{0D108BD9-81ED-4DB2-BD59-A6C34878D82A}">
                    <a16:rowId xmlns:a16="http://schemas.microsoft.com/office/drawing/2014/main" val="3388142893"/>
                  </a:ext>
                </a:extLst>
              </a:tr>
              <a:tr h="266700">
                <a:tc>
                  <a:txBody>
                    <a:bodyPr/>
                    <a:lstStyle/>
                    <a:p>
                      <a:pPr algn="l" fontAlgn="b">
                        <a:buNone/>
                      </a:pPr>
                      <a:r>
                        <a:rPr lang="en-IN" sz="1100" b="0" kern="1200">
                          <a:solidFill>
                            <a:schemeClr val="tx1"/>
                          </a:solidFill>
                          <a:latin typeface="+mn-lt"/>
                          <a:ea typeface="+mn-ea"/>
                          <a:cs typeface="+mn-cs"/>
                        </a:rPr>
                        <a:t>V 1.0</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tint val="20000"/>
                      </a:schemeClr>
                    </a:solidFill>
                  </a:tcPr>
                </a:tc>
                <a:tc>
                  <a:txBody>
                    <a:bodyPr/>
                    <a:lstStyle/>
                    <a:p>
                      <a:pPr algn="l" fontAlgn="t">
                        <a:buNone/>
                      </a:pPr>
                      <a:r>
                        <a:rPr lang="en-IN" sz="1100" b="0" kern="1200" dirty="0">
                          <a:solidFill>
                            <a:schemeClr val="tx1"/>
                          </a:solidFill>
                          <a:latin typeface="+mn-lt"/>
                          <a:ea typeface="+mn-ea"/>
                          <a:cs typeface="+mn-cs"/>
                        </a:rPr>
                        <a:t>Next 3 Months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tint val="20000"/>
                      </a:schemeClr>
                    </a:solidFill>
                  </a:tcPr>
                </a:tc>
                <a:tc>
                  <a:txBody>
                    <a:bodyPr/>
                    <a:lstStyle/>
                    <a:p>
                      <a:pPr algn="l" fontAlgn="t">
                        <a:buNone/>
                      </a:pPr>
                      <a:r>
                        <a:rPr lang="en-IN" sz="1100" b="0" kern="1200" dirty="0">
                          <a:solidFill>
                            <a:schemeClr val="tx1"/>
                          </a:solidFill>
                          <a:latin typeface="+mn-lt"/>
                          <a:ea typeface="+mn-ea"/>
                          <a:cs typeface="+mn-cs"/>
                        </a:rPr>
                        <a:t>20% Reduction Across Target Modules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tint val="20000"/>
                      </a:schemeClr>
                    </a:solidFill>
                  </a:tcPr>
                </a:tc>
                <a:extLst>
                  <a:ext uri="{0D108BD9-81ED-4DB2-BD59-A6C34878D82A}">
                    <a16:rowId xmlns:a16="http://schemas.microsoft.com/office/drawing/2014/main" val="3938114880"/>
                  </a:ext>
                </a:extLst>
              </a:tr>
              <a:tr h="180290">
                <a:tc>
                  <a:txBody>
                    <a:bodyPr/>
                    <a:lstStyle/>
                    <a:p>
                      <a:pPr algn="l" fontAlgn="b">
                        <a:buNone/>
                      </a:pPr>
                      <a:r>
                        <a:rPr lang="en-IN" sz="1100" b="0" kern="1200">
                          <a:solidFill>
                            <a:schemeClr val="tx1"/>
                          </a:solidFill>
                          <a:latin typeface="+mn-lt"/>
                          <a:ea typeface="+mn-ea"/>
                          <a:cs typeface="+mn-cs"/>
                        </a:rPr>
                        <a:t>V 2.0</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tint val="20000"/>
                      </a:schemeClr>
                    </a:solidFill>
                  </a:tcPr>
                </a:tc>
                <a:tc>
                  <a:txBody>
                    <a:bodyPr/>
                    <a:lstStyle/>
                    <a:p>
                      <a:pPr algn="l" fontAlgn="t">
                        <a:buNone/>
                      </a:pPr>
                      <a:r>
                        <a:rPr lang="en-IN" sz="1100" b="0" kern="1200" dirty="0">
                          <a:solidFill>
                            <a:schemeClr val="tx1"/>
                          </a:solidFill>
                          <a:latin typeface="+mn-lt"/>
                          <a:ea typeface="+mn-ea"/>
                          <a:cs typeface="+mn-cs"/>
                        </a:rPr>
                        <a:t>Next 6 Months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tint val="20000"/>
                      </a:schemeClr>
                    </a:solidFill>
                  </a:tcPr>
                </a:tc>
                <a:tc>
                  <a:txBody>
                    <a:bodyPr/>
                    <a:lstStyle/>
                    <a:p>
                      <a:pPr algn="l" fontAlgn="t">
                        <a:buNone/>
                      </a:pPr>
                      <a:r>
                        <a:rPr lang="en-IN" sz="1100" b="0" kern="1200" dirty="0">
                          <a:solidFill>
                            <a:schemeClr val="tx1"/>
                          </a:solidFill>
                          <a:latin typeface="+mn-lt"/>
                          <a:ea typeface="+mn-ea"/>
                          <a:cs typeface="+mn-cs"/>
                        </a:rPr>
                        <a:t>Up to 50% Reduction by Advanced AI Adoption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tint val="20000"/>
                      </a:schemeClr>
                    </a:solidFill>
                  </a:tcPr>
                </a:tc>
                <a:extLst>
                  <a:ext uri="{0D108BD9-81ED-4DB2-BD59-A6C34878D82A}">
                    <a16:rowId xmlns:a16="http://schemas.microsoft.com/office/drawing/2014/main" val="271599729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0D5245C-C97A-8FB6-6BA8-1D86DC83C991}"/>
              </a:ext>
            </a:extLst>
          </p:cNvPr>
          <p:cNvGraphicFramePr>
            <a:graphicFrameLocks noGrp="1"/>
          </p:cNvGraphicFramePr>
          <p:nvPr>
            <p:extLst>
              <p:ext uri="{D42A27DB-BD31-4B8C-83A1-F6EECF244321}">
                <p14:modId xmlns:p14="http://schemas.microsoft.com/office/powerpoint/2010/main" val="2925336020"/>
              </p:ext>
            </p:extLst>
          </p:nvPr>
        </p:nvGraphicFramePr>
        <p:xfrm>
          <a:off x="80231" y="900970"/>
          <a:ext cx="8285556" cy="4248001"/>
        </p:xfrm>
        <a:graphic>
          <a:graphicData uri="http://schemas.openxmlformats.org/drawingml/2006/table">
            <a:tbl>
              <a:tblPr firstRow="1" bandRow="1">
                <a:solidFill>
                  <a:schemeClr val="bg1"/>
                </a:solidFill>
                <a:tableStyleId>{5C22544A-7EE6-4342-B048-85BDC9FD1C3A}</a:tableStyleId>
              </a:tblPr>
              <a:tblGrid>
                <a:gridCol w="692290">
                  <a:extLst>
                    <a:ext uri="{9D8B030D-6E8A-4147-A177-3AD203B41FA5}">
                      <a16:colId xmlns:a16="http://schemas.microsoft.com/office/drawing/2014/main" val="2762854618"/>
                    </a:ext>
                  </a:extLst>
                </a:gridCol>
                <a:gridCol w="1032328">
                  <a:extLst>
                    <a:ext uri="{9D8B030D-6E8A-4147-A177-3AD203B41FA5}">
                      <a16:colId xmlns:a16="http://schemas.microsoft.com/office/drawing/2014/main" val="1421157298"/>
                    </a:ext>
                  </a:extLst>
                </a:gridCol>
                <a:gridCol w="1262485">
                  <a:extLst>
                    <a:ext uri="{9D8B030D-6E8A-4147-A177-3AD203B41FA5}">
                      <a16:colId xmlns:a16="http://schemas.microsoft.com/office/drawing/2014/main" val="1392669576"/>
                    </a:ext>
                  </a:extLst>
                </a:gridCol>
                <a:gridCol w="1648487">
                  <a:extLst>
                    <a:ext uri="{9D8B030D-6E8A-4147-A177-3AD203B41FA5}">
                      <a16:colId xmlns:a16="http://schemas.microsoft.com/office/drawing/2014/main" val="3506667612"/>
                    </a:ext>
                  </a:extLst>
                </a:gridCol>
                <a:gridCol w="1337630">
                  <a:extLst>
                    <a:ext uri="{9D8B030D-6E8A-4147-A177-3AD203B41FA5}">
                      <a16:colId xmlns:a16="http://schemas.microsoft.com/office/drawing/2014/main" val="3183627535"/>
                    </a:ext>
                  </a:extLst>
                </a:gridCol>
                <a:gridCol w="1073872">
                  <a:extLst>
                    <a:ext uri="{9D8B030D-6E8A-4147-A177-3AD203B41FA5}">
                      <a16:colId xmlns:a16="http://schemas.microsoft.com/office/drawing/2014/main" val="760519153"/>
                    </a:ext>
                  </a:extLst>
                </a:gridCol>
                <a:gridCol w="1238464">
                  <a:extLst>
                    <a:ext uri="{9D8B030D-6E8A-4147-A177-3AD203B41FA5}">
                      <a16:colId xmlns:a16="http://schemas.microsoft.com/office/drawing/2014/main" val="3083168013"/>
                    </a:ext>
                  </a:extLst>
                </a:gridCol>
              </a:tblGrid>
              <a:tr h="516065">
                <a:tc>
                  <a:txBody>
                    <a:bodyPr/>
                    <a:lstStyle/>
                    <a:p>
                      <a:pPr marL="0" indent="0" algn="l" defTabSz="914400" rtl="0" eaLnBrk="1" fontAlgn="b" latinLnBrk="0" hangingPunct="1">
                        <a:buNone/>
                      </a:pPr>
                      <a:r>
                        <a:rPr lang="en-IN" sz="1100" b="1" kern="1200" dirty="0" err="1">
                          <a:solidFill>
                            <a:srgbClr val="0F4C81"/>
                          </a:solidFill>
                          <a:latin typeface="+mn-lt"/>
                          <a:ea typeface="+mn-ea"/>
                          <a:cs typeface="+mn-cs"/>
                        </a:rPr>
                        <a:t>S.Ṇo</a:t>
                      </a:r>
                      <a:endParaRPr lang="en-IN" sz="1100" b="1" kern="1200" dirty="0">
                        <a:solidFill>
                          <a:srgbClr val="0F4C81"/>
                        </a:solidFill>
                        <a:latin typeface="+mn-lt"/>
                        <a:ea typeface="+mn-ea"/>
                        <a:cs typeface="+mn-cs"/>
                      </a:endParaRPr>
                    </a:p>
                  </a:txBody>
                  <a:tcPr marL="77631" marR="59716" marT="59716" marB="59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indent="0" algn="l" defTabSz="914400" rtl="0" eaLnBrk="1" fontAlgn="b" latinLnBrk="0" hangingPunct="1">
                        <a:buNone/>
                      </a:pPr>
                      <a:r>
                        <a:rPr lang="en-IN" sz="1100" b="1" kern="1200">
                          <a:solidFill>
                            <a:srgbClr val="0F4C81"/>
                          </a:solidFill>
                          <a:latin typeface="+mn-lt"/>
                          <a:ea typeface="+mn-ea"/>
                          <a:cs typeface="+mn-cs"/>
                        </a:rPr>
                        <a:t>Product</a:t>
                      </a:r>
                    </a:p>
                  </a:txBody>
                  <a:tcPr marL="77631" marR="59716" marT="59716" marB="59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indent="0" algn="l" defTabSz="914400" rtl="0" eaLnBrk="1" fontAlgn="b" latinLnBrk="0" hangingPunct="1">
                        <a:buNone/>
                      </a:pPr>
                      <a:r>
                        <a:rPr lang="en-IN" sz="1100" b="1" kern="1200" dirty="0">
                          <a:solidFill>
                            <a:srgbClr val="0F4C81"/>
                          </a:solidFill>
                          <a:latin typeface="+mn-lt"/>
                          <a:ea typeface="+mn-ea"/>
                          <a:cs typeface="+mn-cs"/>
                        </a:rPr>
                        <a:t>Client / Project</a:t>
                      </a:r>
                    </a:p>
                  </a:txBody>
                  <a:tcPr marL="77631" marR="59716" marT="59716" marB="59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indent="0" algn="l" defTabSz="914400" rtl="0" eaLnBrk="1" fontAlgn="b" latinLnBrk="0" hangingPunct="1">
                        <a:buNone/>
                      </a:pPr>
                      <a:r>
                        <a:rPr lang="en-IN" sz="1100" b="1" kern="1200" dirty="0">
                          <a:solidFill>
                            <a:srgbClr val="0F4C81"/>
                          </a:solidFill>
                          <a:latin typeface="+mn-lt"/>
                          <a:ea typeface="+mn-ea"/>
                          <a:cs typeface="+mn-cs"/>
                        </a:rPr>
                        <a:t>ROI - Effort &amp; Timeline Reduction</a:t>
                      </a:r>
                    </a:p>
                  </a:txBody>
                  <a:tcPr marL="77631" marR="59716" marT="59716" marB="59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indent="0" algn="l" defTabSz="914400" rtl="0" eaLnBrk="1" fontAlgn="b" latinLnBrk="0" hangingPunct="1">
                        <a:buNone/>
                      </a:pPr>
                      <a:r>
                        <a:rPr lang="en-IN" sz="1100" b="1" kern="1200" dirty="0">
                          <a:solidFill>
                            <a:srgbClr val="0F4C81"/>
                          </a:solidFill>
                          <a:latin typeface="+mn-lt"/>
                          <a:ea typeface="+mn-ea"/>
                          <a:cs typeface="+mn-cs"/>
                        </a:rPr>
                        <a:t>Regression Effort Before AI</a:t>
                      </a:r>
                    </a:p>
                  </a:txBody>
                  <a:tcPr marL="77631" marR="59716" marT="59716" marB="59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indent="0" algn="l" defTabSz="914400" rtl="0" eaLnBrk="1" fontAlgn="b" latinLnBrk="0" hangingPunct="1">
                        <a:buNone/>
                      </a:pPr>
                      <a:r>
                        <a:rPr lang="en-IN" sz="1100" b="1" kern="1200">
                          <a:solidFill>
                            <a:srgbClr val="0F4C81"/>
                          </a:solidFill>
                          <a:latin typeface="+mn-lt"/>
                          <a:ea typeface="+mn-ea"/>
                          <a:cs typeface="+mn-cs"/>
                        </a:rPr>
                        <a:t>Regression Effort (After AI)</a:t>
                      </a:r>
                    </a:p>
                  </a:txBody>
                  <a:tcPr marL="77631" marR="59716" marT="59716" marB="59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indent="0" algn="l" defTabSz="914400" rtl="0" eaLnBrk="1" fontAlgn="b" latinLnBrk="0" hangingPunct="1">
                        <a:buNone/>
                      </a:pPr>
                      <a:r>
                        <a:rPr lang="en-IN" sz="1100" b="1" kern="1200" dirty="0">
                          <a:solidFill>
                            <a:srgbClr val="0F4C81"/>
                          </a:solidFill>
                          <a:latin typeface="+mn-lt"/>
                          <a:ea typeface="+mn-ea"/>
                          <a:cs typeface="+mn-cs"/>
                        </a:rPr>
                        <a:t>Savings in days (ROI)</a:t>
                      </a:r>
                    </a:p>
                  </a:txBody>
                  <a:tcPr marL="77631" marR="59716" marT="59716" marB="59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87831992"/>
                  </a:ext>
                </a:extLst>
              </a:tr>
              <a:tr h="268600">
                <a:tc>
                  <a:txBody>
                    <a:bodyPr/>
                    <a:lstStyle/>
                    <a:p>
                      <a:pPr algn="ctr" fontAlgn="b">
                        <a:buNone/>
                      </a:pPr>
                      <a:r>
                        <a:rPr lang="en-IN" sz="1100" u="none" strike="noStrike" cap="none" spc="0">
                          <a:solidFill>
                            <a:schemeClr val="tx1"/>
                          </a:solidFill>
                          <a:effectLst/>
                        </a:rPr>
                        <a:t>1</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IN" sz="1100" u="none" strike="noStrike" cap="none" spc="0" dirty="0">
                          <a:solidFill>
                            <a:srgbClr val="FF0000"/>
                          </a:solidFill>
                          <a:effectLst/>
                        </a:rPr>
                        <a:t>Blaze PG</a:t>
                      </a:r>
                      <a:endParaRPr lang="en-IN" sz="1100" b="0" i="0" u="none" strike="noStrike" cap="none" spc="0" dirty="0">
                        <a:solidFill>
                          <a:srgbClr val="FF0000"/>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IN" sz="1100" u="none" strike="noStrike" cap="none" spc="0" dirty="0">
                          <a:solidFill>
                            <a:srgbClr val="FF0000"/>
                          </a:solidFill>
                          <a:effectLst/>
                        </a:rPr>
                        <a:t>DU</a:t>
                      </a:r>
                      <a:endParaRPr lang="en-IN" sz="1100" b="0" i="0" u="none" strike="noStrike" cap="none" spc="0" dirty="0">
                        <a:solidFill>
                          <a:srgbClr val="FF0000"/>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dirty="0">
                          <a:solidFill>
                            <a:srgbClr val="FF0000"/>
                          </a:solidFill>
                          <a:effectLst/>
                        </a:rPr>
                        <a:t>53%</a:t>
                      </a:r>
                      <a:endParaRPr lang="en-IN" sz="1100" b="0" i="0" u="none" strike="noStrike" cap="none" spc="0" dirty="0">
                        <a:solidFill>
                          <a:srgbClr val="FF0000"/>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dirty="0">
                          <a:solidFill>
                            <a:srgbClr val="FF0000"/>
                          </a:solidFill>
                          <a:effectLst/>
                        </a:rPr>
                        <a:t>74</a:t>
                      </a:r>
                      <a:endParaRPr lang="en-IN" sz="1100" b="0" i="0" u="none" strike="noStrike" cap="none" spc="0" dirty="0">
                        <a:solidFill>
                          <a:srgbClr val="FF0000"/>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dirty="0">
                          <a:solidFill>
                            <a:srgbClr val="FF0000"/>
                          </a:solidFill>
                          <a:effectLst/>
                        </a:rPr>
                        <a:t>35</a:t>
                      </a:r>
                      <a:endParaRPr lang="en-IN" sz="1100" b="0" i="0" u="none" strike="noStrike" cap="none" spc="0" dirty="0">
                        <a:solidFill>
                          <a:srgbClr val="FF0000"/>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dirty="0">
                          <a:solidFill>
                            <a:srgbClr val="FF0000"/>
                          </a:solidFill>
                          <a:effectLst/>
                        </a:rPr>
                        <a:t>39</a:t>
                      </a:r>
                      <a:endParaRPr lang="en-IN" sz="1100" b="0" i="0" u="none" strike="noStrike" cap="none" spc="0" dirty="0">
                        <a:solidFill>
                          <a:srgbClr val="FF0000"/>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17118559"/>
                  </a:ext>
                </a:extLst>
              </a:tr>
              <a:tr h="268600">
                <a:tc>
                  <a:txBody>
                    <a:bodyPr/>
                    <a:lstStyle/>
                    <a:p>
                      <a:pPr algn="ctr" fontAlgn="b">
                        <a:buNone/>
                      </a:pPr>
                      <a:r>
                        <a:rPr lang="en-IN" sz="1100" u="none" strike="noStrike" cap="none" spc="0">
                          <a:solidFill>
                            <a:schemeClr val="tx1"/>
                          </a:solidFill>
                          <a:effectLst/>
                        </a:rPr>
                        <a:t>2</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buNone/>
                      </a:pPr>
                      <a:r>
                        <a:rPr lang="en-IN" sz="1100" u="none" strike="noStrike" cap="none" spc="0" dirty="0">
                          <a:solidFill>
                            <a:schemeClr val="tx1"/>
                          </a:solidFill>
                          <a:effectLst/>
                        </a:rPr>
                        <a:t>PG</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buNone/>
                      </a:pPr>
                      <a:r>
                        <a:rPr lang="en-IN" sz="1100" u="none" strike="noStrike" cap="none" spc="0" dirty="0" err="1">
                          <a:solidFill>
                            <a:schemeClr val="tx1"/>
                          </a:solidFill>
                          <a:effectLst/>
                        </a:rPr>
                        <a:t>Ecentric</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a:solidFill>
                            <a:schemeClr val="tx1"/>
                          </a:solidFill>
                          <a:effectLst/>
                        </a:rPr>
                        <a:t>58%</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a:solidFill>
                            <a:schemeClr val="tx1"/>
                          </a:solidFill>
                          <a:effectLst/>
                        </a:rPr>
                        <a:t>12</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a:solidFill>
                            <a:schemeClr val="tx1"/>
                          </a:solidFill>
                          <a:effectLst/>
                        </a:rPr>
                        <a:t>5</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a:solidFill>
                            <a:schemeClr val="tx1"/>
                          </a:solidFill>
                          <a:effectLst/>
                        </a:rPr>
                        <a:t>7</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4740353"/>
                  </a:ext>
                </a:extLst>
              </a:tr>
              <a:tr h="268600">
                <a:tc>
                  <a:txBody>
                    <a:bodyPr/>
                    <a:lstStyle/>
                    <a:p>
                      <a:pPr algn="ctr" fontAlgn="b">
                        <a:buNone/>
                      </a:pPr>
                      <a:r>
                        <a:rPr lang="en-IN" sz="1100" u="none" strike="noStrike" cap="none" spc="0">
                          <a:solidFill>
                            <a:schemeClr val="tx1"/>
                          </a:solidFill>
                          <a:effectLst/>
                        </a:rPr>
                        <a:t>3</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IN" sz="1100" u="none" strike="noStrike" cap="none" spc="0">
                          <a:solidFill>
                            <a:schemeClr val="tx1"/>
                          </a:solidFill>
                          <a:effectLst/>
                        </a:rPr>
                        <a:t>PG</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IN" sz="1100" u="none" strike="noStrike" cap="none" spc="0" dirty="0" err="1">
                          <a:solidFill>
                            <a:schemeClr val="tx1"/>
                          </a:solidFill>
                          <a:effectLst/>
                        </a:rPr>
                        <a:t>Pinelabs</a:t>
                      </a:r>
                      <a:r>
                        <a:rPr lang="en-IN" sz="1100" u="none" strike="noStrike" cap="none" spc="0" dirty="0">
                          <a:solidFill>
                            <a:schemeClr val="tx1"/>
                          </a:solidFill>
                          <a:effectLst/>
                        </a:rPr>
                        <a:t>-WIO</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a:solidFill>
                            <a:schemeClr val="tx1"/>
                          </a:solidFill>
                          <a:effectLst/>
                        </a:rPr>
                        <a:t>60%</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dirty="0">
                          <a:solidFill>
                            <a:schemeClr val="tx1"/>
                          </a:solidFill>
                          <a:effectLst/>
                        </a:rPr>
                        <a:t>15</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a:solidFill>
                            <a:schemeClr val="tx1"/>
                          </a:solidFill>
                          <a:effectLst/>
                        </a:rPr>
                        <a:t>6</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a:solidFill>
                            <a:schemeClr val="tx1"/>
                          </a:solidFill>
                          <a:effectLst/>
                        </a:rPr>
                        <a:t>9</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9384913"/>
                  </a:ext>
                </a:extLst>
              </a:tr>
              <a:tr h="268600">
                <a:tc>
                  <a:txBody>
                    <a:bodyPr/>
                    <a:lstStyle/>
                    <a:p>
                      <a:pPr algn="ctr" fontAlgn="b">
                        <a:buNone/>
                      </a:pPr>
                      <a:r>
                        <a:rPr lang="en-IN" sz="1100" u="none" strike="noStrike" cap="none" spc="0">
                          <a:solidFill>
                            <a:schemeClr val="tx1"/>
                          </a:solidFill>
                          <a:effectLst/>
                        </a:rPr>
                        <a:t>4</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buNone/>
                      </a:pPr>
                      <a:r>
                        <a:rPr lang="en-IN" sz="1100" u="none" strike="noStrike" cap="none" spc="0">
                          <a:solidFill>
                            <a:schemeClr val="tx1"/>
                          </a:solidFill>
                          <a:effectLst/>
                        </a:rPr>
                        <a:t>Blaze CMS</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buNone/>
                      </a:pPr>
                      <a:r>
                        <a:rPr lang="en-IN" sz="1100" u="none" strike="noStrike" cap="none" spc="0" dirty="0">
                          <a:solidFill>
                            <a:schemeClr val="tx1"/>
                          </a:solidFill>
                          <a:effectLst/>
                        </a:rPr>
                        <a:t>SBI</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a:solidFill>
                            <a:schemeClr val="tx1"/>
                          </a:solidFill>
                          <a:effectLst/>
                        </a:rPr>
                        <a:t>33%</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a:solidFill>
                            <a:schemeClr val="tx1"/>
                          </a:solidFill>
                          <a:effectLst/>
                        </a:rPr>
                        <a:t>30</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a:solidFill>
                            <a:schemeClr val="tx1"/>
                          </a:solidFill>
                          <a:effectLst/>
                        </a:rPr>
                        <a:t>20</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a:solidFill>
                            <a:schemeClr val="tx1"/>
                          </a:solidFill>
                          <a:effectLst/>
                        </a:rPr>
                        <a:t>10</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2333734"/>
                  </a:ext>
                </a:extLst>
              </a:tr>
              <a:tr h="268600">
                <a:tc>
                  <a:txBody>
                    <a:bodyPr/>
                    <a:lstStyle/>
                    <a:p>
                      <a:pPr algn="ctr" fontAlgn="b">
                        <a:buNone/>
                      </a:pPr>
                      <a:r>
                        <a:rPr lang="en-IN" sz="1100" u="none" strike="noStrike" cap="none" spc="0">
                          <a:solidFill>
                            <a:schemeClr val="tx1"/>
                          </a:solidFill>
                          <a:effectLst/>
                        </a:rPr>
                        <a:t>5</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IN" sz="1100" u="none" strike="noStrike" cap="none" spc="0">
                          <a:solidFill>
                            <a:schemeClr val="tx1"/>
                          </a:solidFill>
                          <a:effectLst/>
                        </a:rPr>
                        <a:t>Blaze CMS</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IN" sz="1100" u="none" strike="noStrike" cap="none" spc="0" dirty="0">
                          <a:solidFill>
                            <a:schemeClr val="tx1"/>
                          </a:solidFill>
                          <a:effectLst/>
                        </a:rPr>
                        <a:t>Kotak</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a:solidFill>
                            <a:schemeClr val="tx1"/>
                          </a:solidFill>
                          <a:effectLst/>
                        </a:rPr>
                        <a:t>33%</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a:solidFill>
                            <a:schemeClr val="tx1"/>
                          </a:solidFill>
                          <a:effectLst/>
                        </a:rPr>
                        <a:t>30</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a:solidFill>
                            <a:schemeClr val="tx1"/>
                          </a:solidFill>
                          <a:effectLst/>
                        </a:rPr>
                        <a:t>20</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a:solidFill>
                            <a:schemeClr val="tx1"/>
                          </a:solidFill>
                          <a:effectLst/>
                        </a:rPr>
                        <a:t>10</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8172060"/>
                  </a:ext>
                </a:extLst>
              </a:tr>
              <a:tr h="268600">
                <a:tc>
                  <a:txBody>
                    <a:bodyPr/>
                    <a:lstStyle/>
                    <a:p>
                      <a:pPr algn="ctr" fontAlgn="b">
                        <a:buNone/>
                      </a:pPr>
                      <a:r>
                        <a:rPr lang="en-IN" sz="1100" u="none" strike="noStrike" cap="none" spc="0" dirty="0">
                          <a:solidFill>
                            <a:schemeClr val="tx1"/>
                          </a:solidFill>
                          <a:effectLst/>
                        </a:rPr>
                        <a:t>6</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buNone/>
                      </a:pPr>
                      <a:r>
                        <a:rPr lang="en-IN" sz="1100" u="none" strike="noStrike" cap="none" spc="0">
                          <a:solidFill>
                            <a:schemeClr val="tx1"/>
                          </a:solidFill>
                          <a:effectLst/>
                        </a:rPr>
                        <a:t>Blaze CMS</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buNone/>
                      </a:pPr>
                      <a:r>
                        <a:rPr lang="en-IN" sz="1100" u="none" strike="noStrike" cap="none" spc="0" dirty="0">
                          <a:solidFill>
                            <a:schemeClr val="tx1"/>
                          </a:solidFill>
                          <a:effectLst/>
                        </a:rPr>
                        <a:t>CBI</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dirty="0">
                          <a:solidFill>
                            <a:schemeClr val="tx1"/>
                          </a:solidFill>
                          <a:effectLst/>
                        </a:rPr>
                        <a:t>47%</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a:solidFill>
                            <a:schemeClr val="tx1"/>
                          </a:solidFill>
                          <a:effectLst/>
                        </a:rPr>
                        <a:t>15</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a:solidFill>
                            <a:schemeClr val="tx1"/>
                          </a:solidFill>
                          <a:effectLst/>
                        </a:rPr>
                        <a:t>8</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a:solidFill>
                            <a:schemeClr val="tx1"/>
                          </a:solidFill>
                          <a:effectLst/>
                        </a:rPr>
                        <a:t>7</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5095481"/>
                  </a:ext>
                </a:extLst>
              </a:tr>
              <a:tr h="268600">
                <a:tc>
                  <a:txBody>
                    <a:bodyPr/>
                    <a:lstStyle/>
                    <a:p>
                      <a:pPr algn="ctr" fontAlgn="b">
                        <a:buNone/>
                      </a:pPr>
                      <a:r>
                        <a:rPr lang="en-IN" sz="1100" u="none" strike="noStrike" cap="none" spc="0">
                          <a:solidFill>
                            <a:schemeClr val="tx1"/>
                          </a:solidFill>
                          <a:effectLst/>
                        </a:rPr>
                        <a:t>7</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IN" sz="1100" u="none" strike="noStrike" cap="none" spc="0">
                          <a:solidFill>
                            <a:schemeClr val="tx1"/>
                          </a:solidFill>
                          <a:effectLst/>
                        </a:rPr>
                        <a:t>Recon</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IN" sz="1100" u="none" strike="noStrike" cap="none" spc="0" dirty="0">
                          <a:solidFill>
                            <a:schemeClr val="tx1"/>
                          </a:solidFill>
                          <a:effectLst/>
                        </a:rPr>
                        <a:t>HDFC</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dirty="0">
                          <a:solidFill>
                            <a:schemeClr val="tx1"/>
                          </a:solidFill>
                          <a:effectLst/>
                        </a:rPr>
                        <a:t>47%</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a:solidFill>
                            <a:schemeClr val="tx1"/>
                          </a:solidFill>
                          <a:effectLst/>
                        </a:rPr>
                        <a:t>15</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a:solidFill>
                            <a:schemeClr val="tx1"/>
                          </a:solidFill>
                          <a:effectLst/>
                        </a:rPr>
                        <a:t>8</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a:solidFill>
                            <a:schemeClr val="tx1"/>
                          </a:solidFill>
                          <a:effectLst/>
                        </a:rPr>
                        <a:t>7</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5908134"/>
                  </a:ext>
                </a:extLst>
              </a:tr>
              <a:tr h="268600">
                <a:tc>
                  <a:txBody>
                    <a:bodyPr/>
                    <a:lstStyle/>
                    <a:p>
                      <a:pPr algn="ctr" fontAlgn="b">
                        <a:buNone/>
                      </a:pPr>
                      <a:r>
                        <a:rPr lang="en-IN" sz="1100" u="none" strike="noStrike" cap="none" spc="0">
                          <a:solidFill>
                            <a:schemeClr val="tx1"/>
                          </a:solidFill>
                          <a:effectLst/>
                        </a:rPr>
                        <a:t>8</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buNone/>
                      </a:pPr>
                      <a:r>
                        <a:rPr lang="en-IN" sz="1100" u="none" strike="noStrike" cap="none" spc="0">
                          <a:solidFill>
                            <a:schemeClr val="tx1"/>
                          </a:solidFill>
                          <a:effectLst/>
                        </a:rPr>
                        <a:t>Recon</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buNone/>
                      </a:pPr>
                      <a:r>
                        <a:rPr lang="en-IN" sz="1100" u="none" strike="noStrike" cap="none" spc="0" dirty="0">
                          <a:solidFill>
                            <a:schemeClr val="tx1"/>
                          </a:solidFill>
                          <a:effectLst/>
                        </a:rPr>
                        <a:t>Kotak </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dirty="0">
                          <a:solidFill>
                            <a:schemeClr val="tx1"/>
                          </a:solidFill>
                          <a:effectLst/>
                        </a:rPr>
                        <a:t>35%</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a:solidFill>
                            <a:schemeClr val="tx1"/>
                          </a:solidFill>
                          <a:effectLst/>
                        </a:rPr>
                        <a:t>23</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a:solidFill>
                            <a:schemeClr val="tx1"/>
                          </a:solidFill>
                          <a:effectLst/>
                        </a:rPr>
                        <a:t>15</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a:solidFill>
                            <a:schemeClr val="tx1"/>
                          </a:solidFill>
                          <a:effectLst/>
                        </a:rPr>
                        <a:t>8</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700622989"/>
                  </a:ext>
                </a:extLst>
              </a:tr>
              <a:tr h="268600">
                <a:tc>
                  <a:txBody>
                    <a:bodyPr/>
                    <a:lstStyle/>
                    <a:p>
                      <a:pPr algn="ctr" fontAlgn="b">
                        <a:buNone/>
                      </a:pPr>
                      <a:r>
                        <a:rPr lang="en-IN" sz="1100" u="none" strike="noStrike" cap="none" spc="0">
                          <a:solidFill>
                            <a:schemeClr val="tx1"/>
                          </a:solidFill>
                          <a:effectLst/>
                        </a:rPr>
                        <a:t>9</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IN" sz="1100" u="none" strike="noStrike" cap="none" spc="0">
                          <a:solidFill>
                            <a:schemeClr val="tx1"/>
                          </a:solidFill>
                          <a:effectLst/>
                        </a:rPr>
                        <a:t>Recon</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IN" sz="1100" u="none" strike="noStrike" cap="none" spc="0" dirty="0">
                          <a:solidFill>
                            <a:schemeClr val="tx1"/>
                          </a:solidFill>
                          <a:effectLst/>
                        </a:rPr>
                        <a:t>IPPB</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dirty="0">
                          <a:solidFill>
                            <a:schemeClr val="tx1"/>
                          </a:solidFill>
                          <a:effectLst/>
                        </a:rPr>
                        <a:t>47%</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dirty="0">
                          <a:solidFill>
                            <a:schemeClr val="tx1"/>
                          </a:solidFill>
                          <a:effectLst/>
                        </a:rPr>
                        <a:t>15</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dirty="0">
                          <a:solidFill>
                            <a:schemeClr val="tx1"/>
                          </a:solidFill>
                          <a:effectLst/>
                        </a:rPr>
                        <a:t>8</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dirty="0">
                          <a:solidFill>
                            <a:schemeClr val="tx1"/>
                          </a:solidFill>
                          <a:effectLst/>
                        </a:rPr>
                        <a:t>7</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9467738"/>
                  </a:ext>
                </a:extLst>
              </a:tr>
              <a:tr h="268600">
                <a:tc>
                  <a:txBody>
                    <a:bodyPr/>
                    <a:lstStyle/>
                    <a:p>
                      <a:pPr algn="ctr" fontAlgn="b">
                        <a:buNone/>
                      </a:pPr>
                      <a:r>
                        <a:rPr lang="en-IN" sz="1100" u="none" strike="noStrike" cap="none" spc="0">
                          <a:solidFill>
                            <a:schemeClr val="tx1"/>
                          </a:solidFill>
                          <a:effectLst/>
                        </a:rPr>
                        <a:t>10</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buNone/>
                      </a:pPr>
                      <a:r>
                        <a:rPr lang="en-IN" sz="1100" u="none" strike="noStrike" cap="none" spc="0">
                          <a:solidFill>
                            <a:schemeClr val="tx1"/>
                          </a:solidFill>
                          <a:effectLst/>
                        </a:rPr>
                        <a:t>Recon</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buNone/>
                      </a:pPr>
                      <a:r>
                        <a:rPr lang="en-IN" sz="1100" u="none" strike="noStrike" cap="none" spc="0" dirty="0" err="1">
                          <a:solidFill>
                            <a:schemeClr val="tx1"/>
                          </a:solidFill>
                          <a:effectLst/>
                        </a:rPr>
                        <a:t>NI_Settlement</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a:solidFill>
                            <a:schemeClr val="tx1"/>
                          </a:solidFill>
                          <a:effectLst/>
                        </a:rPr>
                        <a:t>50%</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dirty="0">
                          <a:solidFill>
                            <a:schemeClr val="tx1"/>
                          </a:solidFill>
                          <a:effectLst/>
                        </a:rPr>
                        <a:t>50</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dirty="0">
                          <a:solidFill>
                            <a:schemeClr val="tx1"/>
                          </a:solidFill>
                          <a:effectLst/>
                        </a:rPr>
                        <a:t>25</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a:solidFill>
                            <a:schemeClr val="tx1"/>
                          </a:solidFill>
                          <a:effectLst/>
                        </a:rPr>
                        <a:t>25</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6874483"/>
                  </a:ext>
                </a:extLst>
              </a:tr>
              <a:tr h="268600">
                <a:tc>
                  <a:txBody>
                    <a:bodyPr/>
                    <a:lstStyle/>
                    <a:p>
                      <a:pPr algn="ctr" fontAlgn="b">
                        <a:buNone/>
                      </a:pPr>
                      <a:r>
                        <a:rPr lang="en-IN" sz="1100" u="none" strike="noStrike" cap="none" spc="0">
                          <a:solidFill>
                            <a:schemeClr val="tx1"/>
                          </a:solidFill>
                          <a:effectLst/>
                        </a:rPr>
                        <a:t>11</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IN" sz="1100" u="none" strike="noStrike" cap="none" spc="0">
                          <a:solidFill>
                            <a:schemeClr val="tx1"/>
                          </a:solidFill>
                          <a:effectLst/>
                        </a:rPr>
                        <a:t>Recon</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IN" sz="1100" u="none" strike="noStrike" cap="none" spc="0" dirty="0" err="1">
                          <a:solidFill>
                            <a:schemeClr val="tx1"/>
                          </a:solidFill>
                          <a:effectLst/>
                        </a:rPr>
                        <a:t>NI_Recon</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dirty="0">
                          <a:solidFill>
                            <a:schemeClr val="tx1"/>
                          </a:solidFill>
                          <a:effectLst/>
                        </a:rPr>
                        <a:t>56%</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a:solidFill>
                            <a:schemeClr val="tx1"/>
                          </a:solidFill>
                          <a:effectLst/>
                        </a:rPr>
                        <a:t>45</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dirty="0">
                          <a:solidFill>
                            <a:schemeClr val="tx1"/>
                          </a:solidFill>
                          <a:effectLst/>
                        </a:rPr>
                        <a:t>20</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dirty="0">
                          <a:solidFill>
                            <a:schemeClr val="tx1"/>
                          </a:solidFill>
                          <a:effectLst/>
                        </a:rPr>
                        <a:t>25</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2912558"/>
                  </a:ext>
                </a:extLst>
              </a:tr>
              <a:tr h="268600">
                <a:tc>
                  <a:txBody>
                    <a:bodyPr/>
                    <a:lstStyle/>
                    <a:p>
                      <a:pPr algn="ctr" fontAlgn="b">
                        <a:buNone/>
                      </a:pPr>
                      <a:r>
                        <a:rPr lang="en-IN" sz="1100" u="none" strike="noStrike" cap="none" spc="0">
                          <a:solidFill>
                            <a:schemeClr val="tx1"/>
                          </a:solidFill>
                          <a:effectLst/>
                        </a:rPr>
                        <a:t>12</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buNone/>
                      </a:pPr>
                      <a:r>
                        <a:rPr lang="en-IN" sz="1100" u="none" strike="noStrike" cap="none" spc="0">
                          <a:solidFill>
                            <a:schemeClr val="tx1"/>
                          </a:solidFill>
                          <a:effectLst/>
                        </a:rPr>
                        <a:t>Recon</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buNone/>
                      </a:pPr>
                      <a:r>
                        <a:rPr lang="en-IN" sz="1100" u="none" strike="noStrike" cap="none" spc="0" dirty="0">
                          <a:solidFill>
                            <a:schemeClr val="tx1"/>
                          </a:solidFill>
                          <a:effectLst/>
                        </a:rPr>
                        <a:t>ADCB</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dirty="0">
                          <a:solidFill>
                            <a:schemeClr val="tx1"/>
                          </a:solidFill>
                          <a:effectLst/>
                        </a:rPr>
                        <a:t>40%</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a:solidFill>
                            <a:schemeClr val="tx1"/>
                          </a:solidFill>
                          <a:effectLst/>
                        </a:rPr>
                        <a:t>20</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dirty="0">
                          <a:solidFill>
                            <a:schemeClr val="tx1"/>
                          </a:solidFill>
                          <a:effectLst/>
                        </a:rPr>
                        <a:t>12</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IN" sz="1100" u="none" strike="noStrike" cap="none" spc="0" dirty="0">
                          <a:solidFill>
                            <a:schemeClr val="tx1"/>
                          </a:solidFill>
                          <a:effectLst/>
                        </a:rPr>
                        <a:t>8</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192264814"/>
                  </a:ext>
                </a:extLst>
              </a:tr>
              <a:tr h="268600">
                <a:tc>
                  <a:txBody>
                    <a:bodyPr/>
                    <a:lstStyle/>
                    <a:p>
                      <a:pPr algn="ctr" fontAlgn="b">
                        <a:buNone/>
                      </a:pPr>
                      <a:r>
                        <a:rPr lang="en-IN" sz="1100" u="none" strike="noStrike" cap="none" spc="0">
                          <a:solidFill>
                            <a:schemeClr val="tx1"/>
                          </a:solidFill>
                          <a:effectLst/>
                        </a:rPr>
                        <a:t>13</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IN" sz="1100" u="none" strike="noStrike" cap="none" spc="0">
                          <a:solidFill>
                            <a:schemeClr val="tx1"/>
                          </a:solidFill>
                          <a:effectLst/>
                        </a:rPr>
                        <a:t>Recon</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IN" sz="1100" u="none" strike="noStrike" cap="none" spc="0" dirty="0">
                          <a:solidFill>
                            <a:schemeClr val="tx1"/>
                          </a:solidFill>
                          <a:effectLst/>
                        </a:rPr>
                        <a:t>QNB </a:t>
                      </a:r>
                      <a:r>
                        <a:rPr lang="en-IN" sz="1100" u="none" strike="noStrike" cap="none" spc="0" dirty="0" err="1">
                          <a:solidFill>
                            <a:schemeClr val="tx1"/>
                          </a:solidFill>
                          <a:effectLst/>
                        </a:rPr>
                        <a:t>Alhali</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a:solidFill>
                            <a:schemeClr val="tx1"/>
                          </a:solidFill>
                          <a:effectLst/>
                        </a:rPr>
                        <a:t>40%</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a:solidFill>
                            <a:schemeClr val="tx1"/>
                          </a:solidFill>
                          <a:effectLst/>
                        </a:rPr>
                        <a:t>20</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a:solidFill>
                            <a:schemeClr val="tx1"/>
                          </a:solidFill>
                          <a:effectLst/>
                        </a:rPr>
                        <a:t>12</a:t>
                      </a:r>
                      <a:endParaRPr lang="en-IN" sz="1100" b="0" i="0" u="none" strike="noStrike" cap="none" spc="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IN" sz="1100" u="none" strike="noStrike" cap="none" spc="0" dirty="0">
                          <a:solidFill>
                            <a:schemeClr val="tx1"/>
                          </a:solidFill>
                          <a:effectLst/>
                        </a:rPr>
                        <a:t>8</a:t>
                      </a:r>
                      <a:endParaRPr lang="en-IN" sz="1100" b="0" i="0" u="none" strike="noStrike" cap="none" spc="0" dirty="0">
                        <a:solidFill>
                          <a:schemeClr val="tx1"/>
                        </a:solidFill>
                        <a:effectLst/>
                        <a:latin typeface="Calibri" panose="020F0502020204030204" pitchFamily="34" charset="0"/>
                      </a:endParaRPr>
                    </a:p>
                  </a:txBody>
                  <a:tcPr marL="77631" marR="59716" marT="59716" marB="59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3342814"/>
                  </a:ext>
                </a:extLst>
              </a:tr>
            </a:tbl>
          </a:graphicData>
        </a:graphic>
      </p:graphicFrame>
      <p:sp>
        <p:nvSpPr>
          <p:cNvPr id="9" name="Text 5">
            <a:extLst>
              <a:ext uri="{FF2B5EF4-FFF2-40B4-BE49-F238E27FC236}">
                <a16:creationId xmlns:a16="http://schemas.microsoft.com/office/drawing/2014/main" id="{191B90E4-AF2A-579C-8D2A-245191C88B5E}"/>
              </a:ext>
            </a:extLst>
          </p:cNvPr>
          <p:cNvSpPr/>
          <p:nvPr/>
        </p:nvSpPr>
        <p:spPr>
          <a:xfrm>
            <a:off x="80231" y="511546"/>
            <a:ext cx="4914414" cy="344170"/>
          </a:xfrm>
          <a:prstGeom prst="rect">
            <a:avLst/>
          </a:prstGeom>
          <a:ln/>
        </p:spPr>
        <p:style>
          <a:lnRef idx="1">
            <a:schemeClr val="accent5"/>
          </a:lnRef>
          <a:fillRef idx="2">
            <a:schemeClr val="accent5"/>
          </a:fillRef>
          <a:effectRef idx="1">
            <a:schemeClr val="accent5"/>
          </a:effectRef>
          <a:fontRef idx="minor">
            <a:schemeClr val="dk1"/>
          </a:fontRef>
        </p:style>
        <p:txBody>
          <a:bodyPr wrap="square" rtlCol="0" anchor="ctr"/>
          <a:lstStyle/>
          <a:p>
            <a:r>
              <a:rPr lang="en-IN" sz="1600" b="1" dirty="0">
                <a:solidFill>
                  <a:srgbClr val="0F4C81"/>
                </a:solidFill>
              </a:rPr>
              <a:t>Impact on key ongoing Implementation Project</a:t>
            </a:r>
          </a:p>
        </p:txBody>
      </p:sp>
      <p:sp>
        <p:nvSpPr>
          <p:cNvPr id="17" name="Text 5">
            <a:extLst>
              <a:ext uri="{FF2B5EF4-FFF2-40B4-BE49-F238E27FC236}">
                <a16:creationId xmlns:a16="http://schemas.microsoft.com/office/drawing/2014/main" id="{099626BD-4D6E-765E-5989-28A718F9AE67}"/>
              </a:ext>
            </a:extLst>
          </p:cNvPr>
          <p:cNvSpPr/>
          <p:nvPr/>
        </p:nvSpPr>
        <p:spPr>
          <a:xfrm>
            <a:off x="0" y="5583650"/>
            <a:ext cx="8337623" cy="671182"/>
          </a:xfrm>
          <a:prstGeom prst="rect">
            <a:avLst/>
          </a:prstGeom>
          <a:noFill/>
          <a:ln/>
        </p:spPr>
        <p:txBody>
          <a:bodyPr wrap="square" rtlCol="0" anchor="ctr"/>
          <a:lstStyle/>
          <a:p>
            <a:endParaRPr lang="en-US" sz="1100" dirty="0"/>
          </a:p>
          <a:p>
            <a:r>
              <a:rPr lang="en-IN" sz="1200" dirty="0">
                <a:latin typeface="Calibri" panose="020F0502020204030204" pitchFamily="34" charset="0"/>
                <a:ea typeface="Calibri" panose="020F0502020204030204" pitchFamily="34" charset="0"/>
                <a:cs typeface="Calibri" panose="020F0502020204030204" pitchFamily="34" charset="0"/>
              </a:rPr>
              <a:t>✅ </a:t>
            </a:r>
            <a:r>
              <a:rPr lang="en-IN" sz="1200" dirty="0"/>
              <a:t>The 50% effort reduction is attributed only to Test Execution. Other IQA activities, including Reviews, Environment Setup, Documentation, Test Data Preparation, and Quality Governance, will continue to require effort and are not included in this saving calculation.</a:t>
            </a:r>
          </a:p>
          <a:p>
            <a:pPr marL="171450" indent="-171450">
              <a:buFont typeface="Wingdings" panose="05000000000000000000" pitchFamily="2" charset="2"/>
              <a:buChar char="Ø"/>
            </a:pPr>
            <a:endParaRPr lang="en-US" sz="1100" dirty="0"/>
          </a:p>
        </p:txBody>
      </p:sp>
      <p:sp>
        <p:nvSpPr>
          <p:cNvPr id="19" name="Text 4">
            <a:extLst>
              <a:ext uri="{FF2B5EF4-FFF2-40B4-BE49-F238E27FC236}">
                <a16:creationId xmlns:a16="http://schemas.microsoft.com/office/drawing/2014/main" id="{904DFF4B-DFAB-9E36-9EF9-54174FA259B6}"/>
              </a:ext>
            </a:extLst>
          </p:cNvPr>
          <p:cNvSpPr/>
          <p:nvPr/>
        </p:nvSpPr>
        <p:spPr>
          <a:xfrm>
            <a:off x="80231" y="5364958"/>
            <a:ext cx="5435352" cy="218692"/>
          </a:xfrm>
          <a:prstGeom prst="rect">
            <a:avLst/>
          </a:prstGeom>
          <a:noFill/>
          <a:ln/>
        </p:spPr>
        <p:txBody>
          <a:bodyPr wrap="square" rtlCol="0" anchor="ctr"/>
          <a:lstStyle/>
          <a:p>
            <a:pPr marL="0" indent="0">
              <a:buNone/>
            </a:pPr>
            <a:r>
              <a:rPr lang="en-US" sz="1600" b="1" dirty="0">
                <a:solidFill>
                  <a:srgbClr val="0F4C81"/>
                </a:solidFill>
              </a:rPr>
              <a:t>Test execution Effort Reduction Overview</a:t>
            </a:r>
            <a:endParaRPr lang="en-US" sz="1600" dirty="0"/>
          </a:p>
        </p:txBody>
      </p:sp>
    </p:spTree>
    <p:extLst>
      <p:ext uri="{BB962C8B-B14F-4D97-AF65-F5344CB8AC3E}">
        <p14:creationId xmlns:p14="http://schemas.microsoft.com/office/powerpoint/2010/main" val="13075785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397</TotalTime>
  <Words>428</Words>
  <Application>Microsoft Office PowerPoint</Application>
  <PresentationFormat>Widescreen</PresentationFormat>
  <Paragraphs>179</Paragraphs>
  <Slides>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Wingdings</vt:lpstr>
      <vt:lpstr>Office Theme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Shivakumar M</dc:creator>
  <cp:lastModifiedBy>Shivakumar M</cp:lastModifiedBy>
  <cp:revision>5</cp:revision>
  <dcterms:created xsi:type="dcterms:W3CDTF">2026-10-15T18:40:28Z</dcterms:created>
  <dcterms:modified xsi:type="dcterms:W3CDTF">2026-10-20T17:12:27Z</dcterms:modified>
</cp:coreProperties>
</file>